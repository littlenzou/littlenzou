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392"/>
    <p:restoredTop sz="94610"/>
  </p:normalViewPr>
  <p:slideViewPr>
    <p:cSldViewPr snapToGrid="0" snapToObjects="1">
      <p:cViewPr>
        <p:scale>
          <a:sx n="65" d="100"/>
          <a:sy n="65" d="100"/>
        </p:scale>
        <p:origin x="1208" y="12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330659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FFFE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31B35"/>
        </a:solidFill>
        <a:effectLst/>
      </p:bgPr>
    </p:bg>
    <p:spTree>
      <p:nvGrpSpPr>
        <p:cNvPr id="1" name=""/>
        <p:cNvGrpSpPr/>
        <p:nvPr/>
      </p:nvGrpSpPr>
      <p:grpSpPr>
        <a:xfrm>
          <a:off x="0" y="0"/>
          <a:ext cx="0" cy="0"/>
          <a:chOff x="0" y="0"/>
          <a:chExt cx="0" cy="0"/>
        </a:xfrm>
      </p:grpSpPr>
      <p:pic>
        <p:nvPicPr>
          <p:cNvPr id="2" name="Image 0" descr="assets/logo_full_reversed.png"/>
          <p:cNvPicPr>
            <a:picLocks noChangeAspect="1"/>
          </p:cNvPicPr>
          <p:nvPr/>
        </p:nvPicPr>
        <p:blipFill>
          <a:blip r:embed="rId3"/>
          <a:stretch>
            <a:fillRect/>
          </a:stretch>
        </p:blipFill>
        <p:spPr>
          <a:xfrm>
            <a:off x="3803904" y="1600200"/>
            <a:ext cx="4572000" cy="3145536"/>
          </a:xfrm>
          <a:prstGeom prst="rect">
            <a:avLst/>
          </a:prstGeom>
        </p:spPr>
      </p:pic>
      <p:sp>
        <p:nvSpPr>
          <p:cNvPr id="3" name="Text 0"/>
          <p:cNvSpPr txBox="1"/>
          <p:nvPr/>
        </p:nvSpPr>
        <p:spPr>
          <a:xfrm>
            <a:off x="0" y="5074920"/>
            <a:ext cx="12188952" cy="457200"/>
          </a:xfrm>
          <a:prstGeom prst="rect">
            <a:avLst/>
          </a:prstGeom>
          <a:noFill/>
          <a:ln/>
        </p:spPr>
        <p:txBody>
          <a:bodyPr wrap="square" lIns="0" tIns="0" rIns="0" bIns="0" rtlCol="0" anchor="ctr"/>
          <a:lstStyle/>
          <a:p>
            <a:pPr marL="0" indent="0" algn="ctr">
              <a:buNone/>
            </a:pPr>
            <a:r>
              <a:rPr lang="en-US" sz="1600" b="1" kern="0" spc="500" dirty="0">
                <a:solidFill>
                  <a:srgbClr val="C8A74C"/>
                </a:solidFill>
                <a:latin typeface="Calibri" pitchFamily="34" charset="0"/>
                <a:ea typeface="Calibri" pitchFamily="34" charset="-122"/>
                <a:cs typeface="Calibri" pitchFamily="34" charset="-120"/>
              </a:rPr>
              <a:t>BRAND GUIDELINES</a:t>
            </a:r>
            <a:endParaRPr lang="en-US" sz="1600" dirty="0"/>
          </a:p>
        </p:txBody>
      </p:sp>
      <p:sp>
        <p:nvSpPr>
          <p:cNvPr id="4" name="Shape 1"/>
          <p:cNvSpPr/>
          <p:nvPr/>
        </p:nvSpPr>
        <p:spPr>
          <a:xfrm>
            <a:off x="5632704" y="5623560"/>
            <a:ext cx="914400" cy="914"/>
          </a:xfrm>
          <a:prstGeom prst="line">
            <a:avLst/>
          </a:prstGeom>
          <a:noFill/>
          <a:ln w="12700">
            <a:solidFill>
              <a:srgbClr val="C8A74C"/>
            </a:solidFill>
            <a:prstDash val="solid"/>
          </a:ln>
        </p:spPr>
      </p:sp>
      <p:sp>
        <p:nvSpPr>
          <p:cNvPr id="5" name="Text 2"/>
          <p:cNvSpPr txBox="1"/>
          <p:nvPr/>
        </p:nvSpPr>
        <p:spPr>
          <a:xfrm>
            <a:off x="0" y="5806440"/>
            <a:ext cx="12188952" cy="320040"/>
          </a:xfrm>
          <a:prstGeom prst="rect">
            <a:avLst/>
          </a:prstGeom>
          <a:noFill/>
          <a:ln/>
        </p:spPr>
        <p:txBody>
          <a:bodyPr wrap="square" lIns="0" tIns="0" rIns="0" bIns="0" rtlCol="0" anchor="ctr"/>
          <a:lstStyle/>
          <a:p>
            <a:pPr marL="0" indent="0" algn="ctr">
              <a:buNone/>
            </a:pPr>
            <a:r>
              <a:rPr lang="en-US" sz="1100" dirty="0">
                <a:solidFill>
                  <a:srgbClr val="C9D2DC"/>
                </a:solidFill>
                <a:latin typeface="Calibri" pitchFamily="34" charset="0"/>
                <a:ea typeface="Calibri" pitchFamily="34" charset="-122"/>
                <a:cs typeface="Calibri" pitchFamily="34" charset="-120"/>
              </a:rPr>
              <a:t>Prepared for Khalid Al Mansoori Properties  |  Dubai, UAE  |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40080" y="502920"/>
            <a:ext cx="7315200" cy="320040"/>
          </a:xfrm>
          <a:prstGeom prst="rect">
            <a:avLst/>
          </a:prstGeom>
          <a:noFill/>
          <a:ln/>
        </p:spPr>
        <p:txBody>
          <a:bodyPr wrap="square" lIns="0" tIns="0" rIns="0" bIns="0" rtlCol="0" anchor="ctr"/>
          <a:lstStyle/>
          <a:p>
            <a:pPr marL="0" indent="0">
              <a:buNone/>
            </a:pPr>
            <a:r>
              <a:rPr lang="en-US" sz="1200" b="1" kern="0" spc="300" dirty="0">
                <a:solidFill>
                  <a:srgbClr val="A8863A"/>
                </a:solidFill>
                <a:latin typeface="Calibri" pitchFamily="34" charset="0"/>
                <a:ea typeface="Calibri" pitchFamily="34" charset="-122"/>
                <a:cs typeface="Calibri" pitchFamily="34" charset="-120"/>
              </a:rPr>
              <a:t>CONTENTS</a:t>
            </a:r>
            <a:endParaRPr lang="en-US" sz="1200" dirty="0"/>
          </a:p>
        </p:txBody>
      </p:sp>
      <p:sp>
        <p:nvSpPr>
          <p:cNvPr id="3" name="Text 1"/>
          <p:cNvSpPr txBox="1"/>
          <p:nvPr/>
        </p:nvSpPr>
        <p:spPr>
          <a:xfrm>
            <a:off x="640080" y="868680"/>
            <a:ext cx="9144000" cy="640080"/>
          </a:xfrm>
          <a:prstGeom prst="rect">
            <a:avLst/>
          </a:prstGeom>
          <a:noFill/>
          <a:ln/>
        </p:spPr>
        <p:txBody>
          <a:bodyPr wrap="square" lIns="0" tIns="0" rIns="0" bIns="0" rtlCol="0" anchor="ctr"/>
          <a:lstStyle/>
          <a:p>
            <a:pPr marL="0" indent="0">
              <a:buNone/>
            </a:pPr>
            <a:r>
              <a:rPr lang="en-US" sz="3200" b="1" dirty="0">
                <a:solidFill>
                  <a:srgbClr val="031B35"/>
                </a:solidFill>
                <a:latin typeface="Cambria" pitchFamily="34" charset="0"/>
                <a:ea typeface="Cambria" pitchFamily="34" charset="-122"/>
                <a:cs typeface="Cambria" pitchFamily="34" charset="-120"/>
              </a:rPr>
              <a:t>What's inside this guide</a:t>
            </a:r>
            <a:endParaRPr lang="en-US" sz="3200" dirty="0"/>
          </a:p>
        </p:txBody>
      </p:sp>
      <p:sp>
        <p:nvSpPr>
          <p:cNvPr id="4" name="Text 2"/>
          <p:cNvSpPr txBox="1"/>
          <p:nvPr/>
        </p:nvSpPr>
        <p:spPr>
          <a:xfrm>
            <a:off x="640080" y="1874520"/>
            <a:ext cx="640080" cy="685800"/>
          </a:xfrm>
          <a:prstGeom prst="rect">
            <a:avLst/>
          </a:prstGeom>
          <a:noFill/>
          <a:ln/>
        </p:spPr>
        <p:txBody>
          <a:bodyPr wrap="square" lIns="0" tIns="0" rIns="0" bIns="0" rtlCol="0" anchor="t"/>
          <a:lstStyle/>
          <a:p>
            <a:pPr marL="0" indent="0">
              <a:buNone/>
            </a:pPr>
            <a:r>
              <a:rPr lang="en-US" sz="2200" b="1" dirty="0">
                <a:solidFill>
                  <a:srgbClr val="C8A74C"/>
                </a:solidFill>
                <a:latin typeface="Cambria" pitchFamily="34" charset="0"/>
                <a:ea typeface="Cambria" pitchFamily="34" charset="-122"/>
                <a:cs typeface="Cambria" pitchFamily="34" charset="-120"/>
              </a:rPr>
              <a:t>01</a:t>
            </a:r>
            <a:endParaRPr lang="en-US" sz="2200" dirty="0"/>
          </a:p>
        </p:txBody>
      </p:sp>
      <p:sp>
        <p:nvSpPr>
          <p:cNvPr id="5" name="Text 3"/>
          <p:cNvSpPr txBox="1"/>
          <p:nvPr/>
        </p:nvSpPr>
        <p:spPr>
          <a:xfrm>
            <a:off x="1325880" y="1847088"/>
            <a:ext cx="4526280" cy="365760"/>
          </a:xfrm>
          <a:prstGeom prst="rect">
            <a:avLst/>
          </a:prstGeom>
          <a:noFill/>
          <a:ln/>
        </p:spPr>
        <p:txBody>
          <a:bodyPr wrap="square" lIns="0" tIns="0" rIns="0" bIns="0" rtlCol="0" anchor="ctr"/>
          <a:lstStyle/>
          <a:p>
            <a:pPr marL="0" indent="0">
              <a:buNone/>
            </a:pPr>
            <a:r>
              <a:rPr lang="en-US" sz="1500" b="1" dirty="0">
                <a:solidFill>
                  <a:srgbClr val="031B35"/>
                </a:solidFill>
                <a:latin typeface="Cambria" pitchFamily="34" charset="0"/>
                <a:ea typeface="Cambria" pitchFamily="34" charset="-122"/>
                <a:cs typeface="Cambria" pitchFamily="34" charset="-120"/>
              </a:rPr>
              <a:t>Brand Overview</a:t>
            </a:r>
            <a:endParaRPr lang="en-US" sz="1500" dirty="0"/>
          </a:p>
        </p:txBody>
      </p:sp>
      <p:sp>
        <p:nvSpPr>
          <p:cNvPr id="6" name="Text 4"/>
          <p:cNvSpPr txBox="1"/>
          <p:nvPr/>
        </p:nvSpPr>
        <p:spPr>
          <a:xfrm>
            <a:off x="1325880" y="2185416"/>
            <a:ext cx="4526280" cy="365760"/>
          </a:xfrm>
          <a:prstGeom prst="rect">
            <a:avLst/>
          </a:prstGeom>
          <a:noFill/>
          <a:ln/>
        </p:spPr>
        <p:txBody>
          <a:bodyPr wrap="square" lIns="0" tIns="0" rIns="0" bIns="0" rtlCol="0" anchor="ctr"/>
          <a:lstStyle/>
          <a:p>
            <a:pPr marL="0" indent="0">
              <a:buNone/>
            </a:pPr>
            <a:r>
              <a:rPr lang="en-US" sz="1050" dirty="0">
                <a:solidFill>
                  <a:srgbClr val="6B6B6B"/>
                </a:solidFill>
                <a:latin typeface="Calibri" pitchFamily="34" charset="0"/>
                <a:ea typeface="Calibri" pitchFamily="34" charset="-122"/>
                <a:cs typeface="Calibri" pitchFamily="34" charset="-120"/>
              </a:rPr>
              <a:t>Story, positioning and voice</a:t>
            </a:r>
            <a:endParaRPr lang="en-US" sz="1050" dirty="0"/>
          </a:p>
        </p:txBody>
      </p:sp>
      <p:sp>
        <p:nvSpPr>
          <p:cNvPr id="7" name="Text 5"/>
          <p:cNvSpPr txBox="1"/>
          <p:nvPr/>
        </p:nvSpPr>
        <p:spPr>
          <a:xfrm>
            <a:off x="6309360" y="1874520"/>
            <a:ext cx="640080" cy="685800"/>
          </a:xfrm>
          <a:prstGeom prst="rect">
            <a:avLst/>
          </a:prstGeom>
          <a:noFill/>
          <a:ln/>
        </p:spPr>
        <p:txBody>
          <a:bodyPr wrap="square" lIns="0" tIns="0" rIns="0" bIns="0" rtlCol="0" anchor="t"/>
          <a:lstStyle/>
          <a:p>
            <a:pPr marL="0" indent="0">
              <a:buNone/>
            </a:pPr>
            <a:r>
              <a:rPr lang="en-US" sz="2200" b="1" dirty="0">
                <a:solidFill>
                  <a:srgbClr val="C8A74C"/>
                </a:solidFill>
                <a:latin typeface="Cambria" pitchFamily="34" charset="0"/>
                <a:ea typeface="Cambria" pitchFamily="34" charset="-122"/>
                <a:cs typeface="Cambria" pitchFamily="34" charset="-120"/>
              </a:rPr>
              <a:t>02</a:t>
            </a:r>
            <a:endParaRPr lang="en-US" sz="2200" dirty="0"/>
          </a:p>
        </p:txBody>
      </p:sp>
      <p:sp>
        <p:nvSpPr>
          <p:cNvPr id="8" name="Text 6"/>
          <p:cNvSpPr txBox="1"/>
          <p:nvPr/>
        </p:nvSpPr>
        <p:spPr>
          <a:xfrm>
            <a:off x="6995160" y="1847088"/>
            <a:ext cx="4526280" cy="365760"/>
          </a:xfrm>
          <a:prstGeom prst="rect">
            <a:avLst/>
          </a:prstGeom>
          <a:noFill/>
          <a:ln/>
        </p:spPr>
        <p:txBody>
          <a:bodyPr wrap="square" lIns="0" tIns="0" rIns="0" bIns="0" rtlCol="0" anchor="ctr"/>
          <a:lstStyle/>
          <a:p>
            <a:pPr marL="0" indent="0">
              <a:buNone/>
            </a:pPr>
            <a:r>
              <a:rPr lang="en-US" sz="1500" b="1" dirty="0">
                <a:solidFill>
                  <a:srgbClr val="031B35"/>
                </a:solidFill>
                <a:latin typeface="Cambria" pitchFamily="34" charset="0"/>
                <a:ea typeface="Cambria" pitchFamily="34" charset="-122"/>
                <a:cs typeface="Cambria" pitchFamily="34" charset="-120"/>
              </a:rPr>
              <a:t>Logo System</a:t>
            </a:r>
            <a:endParaRPr lang="en-US" sz="1500" dirty="0"/>
          </a:p>
        </p:txBody>
      </p:sp>
      <p:sp>
        <p:nvSpPr>
          <p:cNvPr id="9" name="Text 7"/>
          <p:cNvSpPr txBox="1"/>
          <p:nvPr/>
        </p:nvSpPr>
        <p:spPr>
          <a:xfrm>
            <a:off x="6995160" y="2185416"/>
            <a:ext cx="4526280" cy="365760"/>
          </a:xfrm>
          <a:prstGeom prst="rect">
            <a:avLst/>
          </a:prstGeom>
          <a:noFill/>
          <a:ln/>
        </p:spPr>
        <p:txBody>
          <a:bodyPr wrap="square" lIns="0" tIns="0" rIns="0" bIns="0" rtlCol="0" anchor="ctr"/>
          <a:lstStyle/>
          <a:p>
            <a:pPr marL="0" indent="0">
              <a:buNone/>
            </a:pPr>
            <a:r>
              <a:rPr lang="en-US" sz="1050" dirty="0">
                <a:solidFill>
                  <a:srgbClr val="6B6B6B"/>
                </a:solidFill>
                <a:latin typeface="Calibri" pitchFamily="34" charset="0"/>
                <a:ea typeface="Calibri" pitchFamily="34" charset="-122"/>
                <a:cs typeface="Calibri" pitchFamily="34" charset="-120"/>
              </a:rPr>
              <a:t>Primary lockup, variations and usage</a:t>
            </a:r>
            <a:endParaRPr lang="en-US" sz="1050" dirty="0"/>
          </a:p>
        </p:txBody>
      </p:sp>
      <p:sp>
        <p:nvSpPr>
          <p:cNvPr id="10" name="Text 8"/>
          <p:cNvSpPr txBox="1"/>
          <p:nvPr/>
        </p:nvSpPr>
        <p:spPr>
          <a:xfrm>
            <a:off x="640080" y="2715768"/>
            <a:ext cx="640080" cy="685800"/>
          </a:xfrm>
          <a:prstGeom prst="rect">
            <a:avLst/>
          </a:prstGeom>
          <a:noFill/>
          <a:ln/>
        </p:spPr>
        <p:txBody>
          <a:bodyPr wrap="square" lIns="0" tIns="0" rIns="0" bIns="0" rtlCol="0" anchor="t"/>
          <a:lstStyle/>
          <a:p>
            <a:pPr marL="0" indent="0">
              <a:buNone/>
            </a:pPr>
            <a:r>
              <a:rPr lang="en-US" sz="2200" b="1" dirty="0">
                <a:solidFill>
                  <a:srgbClr val="C8A74C"/>
                </a:solidFill>
                <a:latin typeface="Cambria" pitchFamily="34" charset="0"/>
                <a:ea typeface="Cambria" pitchFamily="34" charset="-122"/>
                <a:cs typeface="Cambria" pitchFamily="34" charset="-120"/>
              </a:rPr>
              <a:t>03</a:t>
            </a:r>
            <a:endParaRPr lang="en-US" sz="2200" dirty="0"/>
          </a:p>
        </p:txBody>
      </p:sp>
      <p:sp>
        <p:nvSpPr>
          <p:cNvPr id="11" name="Text 9"/>
          <p:cNvSpPr txBox="1"/>
          <p:nvPr/>
        </p:nvSpPr>
        <p:spPr>
          <a:xfrm>
            <a:off x="1325880" y="2688336"/>
            <a:ext cx="4526280" cy="365760"/>
          </a:xfrm>
          <a:prstGeom prst="rect">
            <a:avLst/>
          </a:prstGeom>
          <a:noFill/>
          <a:ln/>
        </p:spPr>
        <p:txBody>
          <a:bodyPr wrap="square" lIns="0" tIns="0" rIns="0" bIns="0" rtlCol="0" anchor="ctr"/>
          <a:lstStyle/>
          <a:p>
            <a:pPr marL="0" indent="0">
              <a:buNone/>
            </a:pPr>
            <a:r>
              <a:rPr lang="en-US" sz="1500" b="1" dirty="0">
                <a:solidFill>
                  <a:srgbClr val="031B35"/>
                </a:solidFill>
                <a:latin typeface="Cambria" pitchFamily="34" charset="0"/>
                <a:ea typeface="Cambria" pitchFamily="34" charset="-122"/>
                <a:cs typeface="Cambria" pitchFamily="34" charset="-120"/>
              </a:rPr>
              <a:t>Clear Space &amp; Minimum Size</a:t>
            </a:r>
            <a:endParaRPr lang="en-US" sz="1500" dirty="0"/>
          </a:p>
        </p:txBody>
      </p:sp>
      <p:sp>
        <p:nvSpPr>
          <p:cNvPr id="12" name="Text 10"/>
          <p:cNvSpPr txBox="1"/>
          <p:nvPr/>
        </p:nvSpPr>
        <p:spPr>
          <a:xfrm>
            <a:off x="1325880" y="3026664"/>
            <a:ext cx="4526280" cy="365760"/>
          </a:xfrm>
          <a:prstGeom prst="rect">
            <a:avLst/>
          </a:prstGeom>
          <a:noFill/>
          <a:ln/>
        </p:spPr>
        <p:txBody>
          <a:bodyPr wrap="square" lIns="0" tIns="0" rIns="0" bIns="0" rtlCol="0" anchor="ctr"/>
          <a:lstStyle/>
          <a:p>
            <a:pPr marL="0" indent="0">
              <a:buNone/>
            </a:pPr>
            <a:r>
              <a:rPr lang="en-US" sz="1050" dirty="0">
                <a:solidFill>
                  <a:srgbClr val="6B6B6B"/>
                </a:solidFill>
                <a:latin typeface="Calibri" pitchFamily="34" charset="0"/>
                <a:ea typeface="Calibri" pitchFamily="34" charset="-122"/>
                <a:cs typeface="Calibri" pitchFamily="34" charset="-120"/>
              </a:rPr>
              <a:t>Protecting the mark</a:t>
            </a:r>
            <a:endParaRPr lang="en-US" sz="1050" dirty="0"/>
          </a:p>
        </p:txBody>
      </p:sp>
      <p:sp>
        <p:nvSpPr>
          <p:cNvPr id="13" name="Text 11"/>
          <p:cNvSpPr txBox="1"/>
          <p:nvPr/>
        </p:nvSpPr>
        <p:spPr>
          <a:xfrm>
            <a:off x="6309360" y="2715768"/>
            <a:ext cx="640080" cy="685800"/>
          </a:xfrm>
          <a:prstGeom prst="rect">
            <a:avLst/>
          </a:prstGeom>
          <a:noFill/>
          <a:ln/>
        </p:spPr>
        <p:txBody>
          <a:bodyPr wrap="square" lIns="0" tIns="0" rIns="0" bIns="0" rtlCol="0" anchor="t"/>
          <a:lstStyle/>
          <a:p>
            <a:pPr marL="0" indent="0">
              <a:buNone/>
            </a:pPr>
            <a:r>
              <a:rPr lang="en-US" sz="2200" b="1" dirty="0">
                <a:solidFill>
                  <a:srgbClr val="C8A74C"/>
                </a:solidFill>
                <a:latin typeface="Cambria" pitchFamily="34" charset="0"/>
                <a:ea typeface="Cambria" pitchFamily="34" charset="-122"/>
                <a:cs typeface="Cambria" pitchFamily="34" charset="-120"/>
              </a:rPr>
              <a:t>04</a:t>
            </a:r>
            <a:endParaRPr lang="en-US" sz="2200" dirty="0"/>
          </a:p>
        </p:txBody>
      </p:sp>
      <p:sp>
        <p:nvSpPr>
          <p:cNvPr id="14" name="Text 12"/>
          <p:cNvSpPr txBox="1"/>
          <p:nvPr/>
        </p:nvSpPr>
        <p:spPr>
          <a:xfrm>
            <a:off x="6995160" y="2688336"/>
            <a:ext cx="4526280" cy="365760"/>
          </a:xfrm>
          <a:prstGeom prst="rect">
            <a:avLst/>
          </a:prstGeom>
          <a:noFill/>
          <a:ln/>
        </p:spPr>
        <p:txBody>
          <a:bodyPr wrap="square" lIns="0" tIns="0" rIns="0" bIns="0" rtlCol="0" anchor="ctr"/>
          <a:lstStyle/>
          <a:p>
            <a:pPr marL="0" indent="0">
              <a:buNone/>
            </a:pPr>
            <a:r>
              <a:rPr lang="en-US" sz="1500" b="1" dirty="0">
                <a:solidFill>
                  <a:srgbClr val="031B35"/>
                </a:solidFill>
                <a:latin typeface="Cambria" pitchFamily="34" charset="0"/>
                <a:ea typeface="Cambria" pitchFamily="34" charset="-122"/>
                <a:cs typeface="Cambria" pitchFamily="34" charset="-120"/>
              </a:rPr>
              <a:t>Logo Misuse</a:t>
            </a:r>
            <a:endParaRPr lang="en-US" sz="1500" dirty="0"/>
          </a:p>
        </p:txBody>
      </p:sp>
      <p:sp>
        <p:nvSpPr>
          <p:cNvPr id="15" name="Text 13"/>
          <p:cNvSpPr txBox="1"/>
          <p:nvPr/>
        </p:nvSpPr>
        <p:spPr>
          <a:xfrm>
            <a:off x="6995160" y="3026664"/>
            <a:ext cx="4526280" cy="365760"/>
          </a:xfrm>
          <a:prstGeom prst="rect">
            <a:avLst/>
          </a:prstGeom>
          <a:noFill/>
          <a:ln/>
        </p:spPr>
        <p:txBody>
          <a:bodyPr wrap="square" lIns="0" tIns="0" rIns="0" bIns="0" rtlCol="0" anchor="ctr"/>
          <a:lstStyle/>
          <a:p>
            <a:pPr marL="0" indent="0">
              <a:buNone/>
            </a:pPr>
            <a:r>
              <a:rPr lang="en-US" sz="1050" dirty="0">
                <a:solidFill>
                  <a:srgbClr val="6B6B6B"/>
                </a:solidFill>
                <a:latin typeface="Calibri" pitchFamily="34" charset="0"/>
                <a:ea typeface="Calibri" pitchFamily="34" charset="-122"/>
                <a:cs typeface="Calibri" pitchFamily="34" charset="-120"/>
              </a:rPr>
              <a:t>What to avoid</a:t>
            </a:r>
            <a:endParaRPr lang="en-US" sz="1050" dirty="0"/>
          </a:p>
        </p:txBody>
      </p:sp>
      <p:sp>
        <p:nvSpPr>
          <p:cNvPr id="16" name="Text 14"/>
          <p:cNvSpPr txBox="1"/>
          <p:nvPr/>
        </p:nvSpPr>
        <p:spPr>
          <a:xfrm>
            <a:off x="640080" y="3557016"/>
            <a:ext cx="640080" cy="685800"/>
          </a:xfrm>
          <a:prstGeom prst="rect">
            <a:avLst/>
          </a:prstGeom>
          <a:noFill/>
          <a:ln/>
        </p:spPr>
        <p:txBody>
          <a:bodyPr wrap="square" lIns="0" tIns="0" rIns="0" bIns="0" rtlCol="0" anchor="t"/>
          <a:lstStyle/>
          <a:p>
            <a:pPr marL="0" indent="0">
              <a:buNone/>
            </a:pPr>
            <a:r>
              <a:rPr lang="en-US" sz="2200" b="1" dirty="0">
                <a:solidFill>
                  <a:srgbClr val="C8A74C"/>
                </a:solidFill>
                <a:latin typeface="Cambria" pitchFamily="34" charset="0"/>
                <a:ea typeface="Cambria" pitchFamily="34" charset="-122"/>
                <a:cs typeface="Cambria" pitchFamily="34" charset="-120"/>
              </a:rPr>
              <a:t>05</a:t>
            </a:r>
            <a:endParaRPr lang="en-US" sz="2200" dirty="0"/>
          </a:p>
        </p:txBody>
      </p:sp>
      <p:sp>
        <p:nvSpPr>
          <p:cNvPr id="17" name="Text 15"/>
          <p:cNvSpPr txBox="1"/>
          <p:nvPr/>
        </p:nvSpPr>
        <p:spPr>
          <a:xfrm>
            <a:off x="1325880" y="3529584"/>
            <a:ext cx="4526280" cy="365760"/>
          </a:xfrm>
          <a:prstGeom prst="rect">
            <a:avLst/>
          </a:prstGeom>
          <a:noFill/>
          <a:ln/>
        </p:spPr>
        <p:txBody>
          <a:bodyPr wrap="square" lIns="0" tIns="0" rIns="0" bIns="0" rtlCol="0" anchor="ctr"/>
          <a:lstStyle/>
          <a:p>
            <a:pPr marL="0" indent="0">
              <a:buNone/>
            </a:pPr>
            <a:r>
              <a:rPr lang="en-US" sz="1500" b="1" dirty="0">
                <a:solidFill>
                  <a:srgbClr val="031B35"/>
                </a:solidFill>
                <a:latin typeface="Cambria" pitchFamily="34" charset="0"/>
                <a:ea typeface="Cambria" pitchFamily="34" charset="-122"/>
                <a:cs typeface="Cambria" pitchFamily="34" charset="-120"/>
              </a:rPr>
              <a:t>Color Palette</a:t>
            </a:r>
            <a:endParaRPr lang="en-US" sz="1500" dirty="0"/>
          </a:p>
        </p:txBody>
      </p:sp>
      <p:sp>
        <p:nvSpPr>
          <p:cNvPr id="18" name="Text 16"/>
          <p:cNvSpPr txBox="1"/>
          <p:nvPr/>
        </p:nvSpPr>
        <p:spPr>
          <a:xfrm>
            <a:off x="1325880" y="3867912"/>
            <a:ext cx="4526280" cy="365760"/>
          </a:xfrm>
          <a:prstGeom prst="rect">
            <a:avLst/>
          </a:prstGeom>
          <a:noFill/>
          <a:ln/>
        </p:spPr>
        <p:txBody>
          <a:bodyPr wrap="square" lIns="0" tIns="0" rIns="0" bIns="0" rtlCol="0" anchor="ctr"/>
          <a:lstStyle/>
          <a:p>
            <a:pPr marL="0" indent="0">
              <a:buNone/>
            </a:pPr>
            <a:r>
              <a:rPr lang="en-US" sz="1050" dirty="0">
                <a:solidFill>
                  <a:srgbClr val="6B6B6B"/>
                </a:solidFill>
                <a:latin typeface="Calibri" pitchFamily="34" charset="0"/>
                <a:ea typeface="Calibri" pitchFamily="34" charset="-122"/>
                <a:cs typeface="Calibri" pitchFamily="34" charset="-120"/>
              </a:rPr>
              <a:t>Primary and supporting colors</a:t>
            </a:r>
            <a:endParaRPr lang="en-US" sz="1050" dirty="0"/>
          </a:p>
        </p:txBody>
      </p:sp>
      <p:sp>
        <p:nvSpPr>
          <p:cNvPr id="19" name="Text 17"/>
          <p:cNvSpPr txBox="1"/>
          <p:nvPr/>
        </p:nvSpPr>
        <p:spPr>
          <a:xfrm>
            <a:off x="6309360" y="3557016"/>
            <a:ext cx="640080" cy="685800"/>
          </a:xfrm>
          <a:prstGeom prst="rect">
            <a:avLst/>
          </a:prstGeom>
          <a:noFill/>
          <a:ln/>
        </p:spPr>
        <p:txBody>
          <a:bodyPr wrap="square" lIns="0" tIns="0" rIns="0" bIns="0" rtlCol="0" anchor="t"/>
          <a:lstStyle/>
          <a:p>
            <a:pPr marL="0" indent="0">
              <a:buNone/>
            </a:pPr>
            <a:r>
              <a:rPr lang="en-US" sz="2200" b="1" dirty="0">
                <a:solidFill>
                  <a:srgbClr val="C8A74C"/>
                </a:solidFill>
                <a:latin typeface="Cambria" pitchFamily="34" charset="0"/>
                <a:ea typeface="Cambria" pitchFamily="34" charset="-122"/>
                <a:cs typeface="Cambria" pitchFamily="34" charset="-120"/>
              </a:rPr>
              <a:t>06</a:t>
            </a:r>
            <a:endParaRPr lang="en-US" sz="2200" dirty="0"/>
          </a:p>
        </p:txBody>
      </p:sp>
      <p:sp>
        <p:nvSpPr>
          <p:cNvPr id="20" name="Text 18"/>
          <p:cNvSpPr txBox="1"/>
          <p:nvPr/>
        </p:nvSpPr>
        <p:spPr>
          <a:xfrm>
            <a:off x="6995160" y="3529584"/>
            <a:ext cx="4526280" cy="365760"/>
          </a:xfrm>
          <a:prstGeom prst="rect">
            <a:avLst/>
          </a:prstGeom>
          <a:noFill/>
          <a:ln/>
        </p:spPr>
        <p:txBody>
          <a:bodyPr wrap="square" lIns="0" tIns="0" rIns="0" bIns="0" rtlCol="0" anchor="ctr"/>
          <a:lstStyle/>
          <a:p>
            <a:pPr marL="0" indent="0">
              <a:buNone/>
            </a:pPr>
            <a:r>
              <a:rPr lang="en-US" sz="1500" b="1" dirty="0">
                <a:solidFill>
                  <a:srgbClr val="031B35"/>
                </a:solidFill>
                <a:latin typeface="Cambria" pitchFamily="34" charset="0"/>
                <a:ea typeface="Cambria" pitchFamily="34" charset="-122"/>
                <a:cs typeface="Cambria" pitchFamily="34" charset="-120"/>
              </a:rPr>
              <a:t>Typography</a:t>
            </a:r>
            <a:endParaRPr lang="en-US" sz="1500" dirty="0"/>
          </a:p>
        </p:txBody>
      </p:sp>
      <p:sp>
        <p:nvSpPr>
          <p:cNvPr id="21" name="Text 19"/>
          <p:cNvSpPr txBox="1"/>
          <p:nvPr/>
        </p:nvSpPr>
        <p:spPr>
          <a:xfrm>
            <a:off x="6995160" y="3867912"/>
            <a:ext cx="4526280" cy="365760"/>
          </a:xfrm>
          <a:prstGeom prst="rect">
            <a:avLst/>
          </a:prstGeom>
          <a:noFill/>
          <a:ln/>
        </p:spPr>
        <p:txBody>
          <a:bodyPr wrap="square" lIns="0" tIns="0" rIns="0" bIns="0" rtlCol="0" anchor="ctr"/>
          <a:lstStyle/>
          <a:p>
            <a:pPr marL="0" indent="0">
              <a:buNone/>
            </a:pPr>
            <a:r>
              <a:rPr lang="en-US" sz="1050" dirty="0">
                <a:solidFill>
                  <a:srgbClr val="6B6B6B"/>
                </a:solidFill>
                <a:latin typeface="Calibri" pitchFamily="34" charset="0"/>
                <a:ea typeface="Calibri" pitchFamily="34" charset="-122"/>
                <a:cs typeface="Calibri" pitchFamily="34" charset="-120"/>
              </a:rPr>
              <a:t>Headline, accent and body type</a:t>
            </a:r>
            <a:endParaRPr lang="en-US" sz="1050" dirty="0"/>
          </a:p>
        </p:txBody>
      </p:sp>
      <p:sp>
        <p:nvSpPr>
          <p:cNvPr id="22" name="Text 20"/>
          <p:cNvSpPr txBox="1"/>
          <p:nvPr/>
        </p:nvSpPr>
        <p:spPr>
          <a:xfrm>
            <a:off x="640080" y="4398264"/>
            <a:ext cx="640080" cy="685800"/>
          </a:xfrm>
          <a:prstGeom prst="rect">
            <a:avLst/>
          </a:prstGeom>
          <a:noFill/>
          <a:ln/>
        </p:spPr>
        <p:txBody>
          <a:bodyPr wrap="square" lIns="0" tIns="0" rIns="0" bIns="0" rtlCol="0" anchor="t"/>
          <a:lstStyle/>
          <a:p>
            <a:pPr marL="0" indent="0">
              <a:buNone/>
            </a:pPr>
            <a:r>
              <a:rPr lang="en-US" sz="2200" b="1" dirty="0">
                <a:solidFill>
                  <a:srgbClr val="C8A74C"/>
                </a:solidFill>
                <a:latin typeface="Cambria" pitchFamily="34" charset="0"/>
                <a:ea typeface="Cambria" pitchFamily="34" charset="-122"/>
                <a:cs typeface="Cambria" pitchFamily="34" charset="-120"/>
              </a:rPr>
              <a:t>07</a:t>
            </a:r>
            <a:endParaRPr lang="en-US" sz="2200" dirty="0"/>
          </a:p>
        </p:txBody>
      </p:sp>
      <p:sp>
        <p:nvSpPr>
          <p:cNvPr id="23" name="Text 21"/>
          <p:cNvSpPr txBox="1"/>
          <p:nvPr/>
        </p:nvSpPr>
        <p:spPr>
          <a:xfrm>
            <a:off x="1325880" y="4370832"/>
            <a:ext cx="4526280" cy="365760"/>
          </a:xfrm>
          <a:prstGeom prst="rect">
            <a:avLst/>
          </a:prstGeom>
          <a:noFill/>
          <a:ln/>
        </p:spPr>
        <p:txBody>
          <a:bodyPr wrap="square" lIns="0" tIns="0" rIns="0" bIns="0" rtlCol="0" anchor="ctr"/>
          <a:lstStyle/>
          <a:p>
            <a:pPr marL="0" indent="0">
              <a:buNone/>
            </a:pPr>
            <a:r>
              <a:rPr lang="en-US" sz="1500" b="1" dirty="0">
                <a:solidFill>
                  <a:srgbClr val="031B35"/>
                </a:solidFill>
                <a:latin typeface="Cambria" pitchFamily="34" charset="0"/>
                <a:ea typeface="Cambria" pitchFamily="34" charset="-122"/>
                <a:cs typeface="Cambria" pitchFamily="34" charset="-120"/>
              </a:rPr>
              <a:t>Business Card</a:t>
            </a:r>
            <a:endParaRPr lang="en-US" sz="1500" dirty="0"/>
          </a:p>
        </p:txBody>
      </p:sp>
      <p:sp>
        <p:nvSpPr>
          <p:cNvPr id="24" name="Text 22"/>
          <p:cNvSpPr txBox="1"/>
          <p:nvPr/>
        </p:nvSpPr>
        <p:spPr>
          <a:xfrm>
            <a:off x="1325880" y="4709160"/>
            <a:ext cx="4526280" cy="365760"/>
          </a:xfrm>
          <a:prstGeom prst="rect">
            <a:avLst/>
          </a:prstGeom>
          <a:noFill/>
          <a:ln/>
        </p:spPr>
        <p:txBody>
          <a:bodyPr wrap="square" lIns="0" tIns="0" rIns="0" bIns="0" rtlCol="0" anchor="ctr"/>
          <a:lstStyle/>
          <a:p>
            <a:pPr marL="0" indent="0">
              <a:buNone/>
            </a:pPr>
            <a:r>
              <a:rPr lang="en-US" sz="1050" dirty="0">
                <a:solidFill>
                  <a:srgbClr val="6B6B6B"/>
                </a:solidFill>
                <a:latin typeface="Calibri" pitchFamily="34" charset="0"/>
                <a:ea typeface="Calibri" pitchFamily="34" charset="-122"/>
                <a:cs typeface="Calibri" pitchFamily="34" charset="-120"/>
              </a:rPr>
              <a:t>Stationery application</a:t>
            </a:r>
            <a:endParaRPr lang="en-US" sz="1050" dirty="0"/>
          </a:p>
        </p:txBody>
      </p:sp>
      <p:sp>
        <p:nvSpPr>
          <p:cNvPr id="25" name="Text 23"/>
          <p:cNvSpPr txBox="1"/>
          <p:nvPr/>
        </p:nvSpPr>
        <p:spPr>
          <a:xfrm>
            <a:off x="6309360" y="4398264"/>
            <a:ext cx="640080" cy="685800"/>
          </a:xfrm>
          <a:prstGeom prst="rect">
            <a:avLst/>
          </a:prstGeom>
          <a:noFill/>
          <a:ln/>
        </p:spPr>
        <p:txBody>
          <a:bodyPr wrap="square" lIns="0" tIns="0" rIns="0" bIns="0" rtlCol="0" anchor="t"/>
          <a:lstStyle/>
          <a:p>
            <a:pPr marL="0" indent="0">
              <a:buNone/>
            </a:pPr>
            <a:r>
              <a:rPr lang="en-US" sz="2200" b="1" dirty="0">
                <a:solidFill>
                  <a:srgbClr val="C8A74C"/>
                </a:solidFill>
                <a:latin typeface="Cambria" pitchFamily="34" charset="0"/>
                <a:ea typeface="Cambria" pitchFamily="34" charset="-122"/>
                <a:cs typeface="Cambria" pitchFamily="34" charset="-120"/>
              </a:rPr>
              <a:t>08</a:t>
            </a:r>
            <a:endParaRPr lang="en-US" sz="2200" dirty="0"/>
          </a:p>
        </p:txBody>
      </p:sp>
      <p:sp>
        <p:nvSpPr>
          <p:cNvPr id="26" name="Text 24"/>
          <p:cNvSpPr txBox="1"/>
          <p:nvPr/>
        </p:nvSpPr>
        <p:spPr>
          <a:xfrm>
            <a:off x="6995160" y="4370832"/>
            <a:ext cx="4526280" cy="365760"/>
          </a:xfrm>
          <a:prstGeom prst="rect">
            <a:avLst/>
          </a:prstGeom>
          <a:noFill/>
          <a:ln/>
        </p:spPr>
        <p:txBody>
          <a:bodyPr wrap="square" lIns="0" tIns="0" rIns="0" bIns="0" rtlCol="0" anchor="ctr"/>
          <a:lstStyle/>
          <a:p>
            <a:pPr marL="0" indent="0">
              <a:buNone/>
            </a:pPr>
            <a:r>
              <a:rPr lang="en-US" sz="1500" b="1" dirty="0">
                <a:solidFill>
                  <a:srgbClr val="031B35"/>
                </a:solidFill>
                <a:latin typeface="Cambria" pitchFamily="34" charset="0"/>
                <a:ea typeface="Cambria" pitchFamily="34" charset="-122"/>
                <a:cs typeface="Cambria" pitchFamily="34" charset="-120"/>
              </a:rPr>
              <a:t>Letterhead</a:t>
            </a:r>
            <a:endParaRPr lang="en-US" sz="1500" dirty="0"/>
          </a:p>
        </p:txBody>
      </p:sp>
      <p:sp>
        <p:nvSpPr>
          <p:cNvPr id="27" name="Text 25"/>
          <p:cNvSpPr txBox="1"/>
          <p:nvPr/>
        </p:nvSpPr>
        <p:spPr>
          <a:xfrm>
            <a:off x="6995160" y="4709160"/>
            <a:ext cx="4526280" cy="365760"/>
          </a:xfrm>
          <a:prstGeom prst="rect">
            <a:avLst/>
          </a:prstGeom>
          <a:noFill/>
          <a:ln/>
        </p:spPr>
        <p:txBody>
          <a:bodyPr wrap="square" lIns="0" tIns="0" rIns="0" bIns="0" rtlCol="0" anchor="ctr"/>
          <a:lstStyle/>
          <a:p>
            <a:pPr marL="0" indent="0">
              <a:buNone/>
            </a:pPr>
            <a:r>
              <a:rPr lang="en-US" sz="1050" dirty="0">
                <a:solidFill>
                  <a:srgbClr val="6B6B6B"/>
                </a:solidFill>
                <a:latin typeface="Calibri" pitchFamily="34" charset="0"/>
                <a:ea typeface="Calibri" pitchFamily="34" charset="-122"/>
                <a:cs typeface="Calibri" pitchFamily="34" charset="-120"/>
              </a:rPr>
              <a:t>Stationery application</a:t>
            </a:r>
            <a:endParaRPr lang="en-US" sz="1050" dirty="0"/>
          </a:p>
        </p:txBody>
      </p:sp>
      <p:sp>
        <p:nvSpPr>
          <p:cNvPr id="28" name="Text 26"/>
          <p:cNvSpPr txBox="1"/>
          <p:nvPr/>
        </p:nvSpPr>
        <p:spPr>
          <a:xfrm>
            <a:off x="640080" y="5239512"/>
            <a:ext cx="640080" cy="685800"/>
          </a:xfrm>
          <a:prstGeom prst="rect">
            <a:avLst/>
          </a:prstGeom>
          <a:noFill/>
          <a:ln/>
        </p:spPr>
        <p:txBody>
          <a:bodyPr wrap="square" lIns="0" tIns="0" rIns="0" bIns="0" rtlCol="0" anchor="t"/>
          <a:lstStyle/>
          <a:p>
            <a:pPr marL="0" indent="0">
              <a:buNone/>
            </a:pPr>
            <a:r>
              <a:rPr lang="en-US" sz="2200" b="1" dirty="0">
                <a:solidFill>
                  <a:srgbClr val="C8A74C"/>
                </a:solidFill>
                <a:latin typeface="Cambria" pitchFamily="34" charset="0"/>
                <a:ea typeface="Cambria" pitchFamily="34" charset="-122"/>
                <a:cs typeface="Cambria" pitchFamily="34" charset="-120"/>
              </a:rPr>
              <a:t>09</a:t>
            </a:r>
            <a:endParaRPr lang="en-US" sz="2200" dirty="0"/>
          </a:p>
        </p:txBody>
      </p:sp>
      <p:sp>
        <p:nvSpPr>
          <p:cNvPr id="29" name="Text 27"/>
          <p:cNvSpPr txBox="1"/>
          <p:nvPr/>
        </p:nvSpPr>
        <p:spPr>
          <a:xfrm>
            <a:off x="1325880" y="5212080"/>
            <a:ext cx="4526280" cy="365760"/>
          </a:xfrm>
          <a:prstGeom prst="rect">
            <a:avLst/>
          </a:prstGeom>
          <a:noFill/>
          <a:ln/>
        </p:spPr>
        <p:txBody>
          <a:bodyPr wrap="square" lIns="0" tIns="0" rIns="0" bIns="0" rtlCol="0" anchor="ctr"/>
          <a:lstStyle/>
          <a:p>
            <a:pPr marL="0" indent="0">
              <a:buNone/>
            </a:pPr>
            <a:r>
              <a:rPr lang="en-US" sz="1500" b="1" dirty="0">
                <a:solidFill>
                  <a:srgbClr val="031B35"/>
                </a:solidFill>
                <a:latin typeface="Cambria" pitchFamily="34" charset="0"/>
                <a:ea typeface="Cambria" pitchFamily="34" charset="-122"/>
                <a:cs typeface="Cambria" pitchFamily="34" charset="-120"/>
              </a:rPr>
              <a:t>Email Signature</a:t>
            </a:r>
            <a:endParaRPr lang="en-US" sz="1500" dirty="0"/>
          </a:p>
        </p:txBody>
      </p:sp>
      <p:sp>
        <p:nvSpPr>
          <p:cNvPr id="30" name="Text 28"/>
          <p:cNvSpPr txBox="1"/>
          <p:nvPr/>
        </p:nvSpPr>
        <p:spPr>
          <a:xfrm>
            <a:off x="1325880" y="5550408"/>
            <a:ext cx="4526280" cy="365760"/>
          </a:xfrm>
          <a:prstGeom prst="rect">
            <a:avLst/>
          </a:prstGeom>
          <a:noFill/>
          <a:ln/>
        </p:spPr>
        <p:txBody>
          <a:bodyPr wrap="square" lIns="0" tIns="0" rIns="0" bIns="0" rtlCol="0" anchor="ctr"/>
          <a:lstStyle/>
          <a:p>
            <a:pPr marL="0" indent="0">
              <a:buNone/>
            </a:pPr>
            <a:r>
              <a:rPr lang="en-US" sz="1050" dirty="0">
                <a:solidFill>
                  <a:srgbClr val="6B6B6B"/>
                </a:solidFill>
                <a:latin typeface="Calibri" pitchFamily="34" charset="0"/>
                <a:ea typeface="Calibri" pitchFamily="34" charset="-122"/>
                <a:cs typeface="Calibri" pitchFamily="34" charset="-120"/>
              </a:rPr>
              <a:t>Digital application</a:t>
            </a:r>
            <a:endParaRPr lang="en-US" sz="1050" dirty="0"/>
          </a:p>
        </p:txBody>
      </p:sp>
      <p:sp>
        <p:nvSpPr>
          <p:cNvPr id="31" name="Text 29"/>
          <p:cNvSpPr txBox="1"/>
          <p:nvPr/>
        </p:nvSpPr>
        <p:spPr>
          <a:xfrm>
            <a:off x="6309360" y="5239512"/>
            <a:ext cx="640080" cy="685800"/>
          </a:xfrm>
          <a:prstGeom prst="rect">
            <a:avLst/>
          </a:prstGeom>
          <a:noFill/>
          <a:ln/>
        </p:spPr>
        <p:txBody>
          <a:bodyPr wrap="square" lIns="0" tIns="0" rIns="0" bIns="0" rtlCol="0" anchor="t"/>
          <a:lstStyle/>
          <a:p>
            <a:pPr marL="0" indent="0">
              <a:buNone/>
            </a:pPr>
            <a:r>
              <a:rPr lang="en-US" sz="2200" b="1" dirty="0">
                <a:solidFill>
                  <a:srgbClr val="C8A74C"/>
                </a:solidFill>
                <a:latin typeface="Cambria" pitchFamily="34" charset="0"/>
                <a:ea typeface="Cambria" pitchFamily="34" charset="-122"/>
                <a:cs typeface="Cambria" pitchFamily="34" charset="-120"/>
              </a:rPr>
              <a:t>10</a:t>
            </a:r>
            <a:endParaRPr lang="en-US" sz="2200" dirty="0"/>
          </a:p>
        </p:txBody>
      </p:sp>
      <p:sp>
        <p:nvSpPr>
          <p:cNvPr id="32" name="Text 30"/>
          <p:cNvSpPr txBox="1"/>
          <p:nvPr/>
        </p:nvSpPr>
        <p:spPr>
          <a:xfrm>
            <a:off x="6995160" y="5212080"/>
            <a:ext cx="4526280" cy="365760"/>
          </a:xfrm>
          <a:prstGeom prst="rect">
            <a:avLst/>
          </a:prstGeom>
          <a:noFill/>
          <a:ln/>
        </p:spPr>
        <p:txBody>
          <a:bodyPr wrap="square" lIns="0" tIns="0" rIns="0" bIns="0" rtlCol="0" anchor="ctr"/>
          <a:lstStyle/>
          <a:p>
            <a:pPr marL="0" indent="0">
              <a:buNone/>
            </a:pPr>
            <a:r>
              <a:rPr lang="en-US" sz="1500" b="1" dirty="0">
                <a:solidFill>
                  <a:srgbClr val="031B35"/>
                </a:solidFill>
                <a:latin typeface="Cambria" pitchFamily="34" charset="0"/>
                <a:ea typeface="Cambria" pitchFamily="34" charset="-122"/>
                <a:cs typeface="Cambria" pitchFamily="34" charset="-120"/>
              </a:rPr>
              <a:t>Contact</a:t>
            </a:r>
            <a:endParaRPr lang="en-US" sz="1500" dirty="0"/>
          </a:p>
        </p:txBody>
      </p:sp>
      <p:sp>
        <p:nvSpPr>
          <p:cNvPr id="33" name="Text 31"/>
          <p:cNvSpPr txBox="1"/>
          <p:nvPr/>
        </p:nvSpPr>
        <p:spPr>
          <a:xfrm>
            <a:off x="6995160" y="5550408"/>
            <a:ext cx="4526280" cy="365760"/>
          </a:xfrm>
          <a:prstGeom prst="rect">
            <a:avLst/>
          </a:prstGeom>
          <a:noFill/>
          <a:ln/>
        </p:spPr>
        <p:txBody>
          <a:bodyPr wrap="square" lIns="0" tIns="0" rIns="0" bIns="0" rtlCol="0" anchor="ctr"/>
          <a:lstStyle/>
          <a:p>
            <a:pPr marL="0" indent="0">
              <a:buNone/>
            </a:pPr>
            <a:r>
              <a:rPr lang="en-US" sz="1050" dirty="0">
                <a:solidFill>
                  <a:srgbClr val="6B6B6B"/>
                </a:solidFill>
                <a:latin typeface="Calibri" pitchFamily="34" charset="0"/>
                <a:ea typeface="Calibri" pitchFamily="34" charset="-122"/>
                <a:cs typeface="Calibri" pitchFamily="34" charset="-120"/>
              </a:rPr>
              <a:t>Brand custodian details</a:t>
            </a:r>
            <a:endParaRPr lang="en-US" sz="1050" dirty="0"/>
          </a:p>
        </p:txBody>
      </p:sp>
      <p:sp>
        <p:nvSpPr>
          <p:cNvPr id="34" name="Text 32"/>
          <p:cNvSpPr txBox="1"/>
          <p:nvPr/>
        </p:nvSpPr>
        <p:spPr>
          <a:xfrm>
            <a:off x="11548872" y="6446520"/>
            <a:ext cx="365760" cy="274320"/>
          </a:xfrm>
          <a:prstGeom prst="rect">
            <a:avLst/>
          </a:prstGeom>
          <a:noFill/>
          <a:ln/>
        </p:spPr>
        <p:txBody>
          <a:bodyPr wrap="square" lIns="0" tIns="0" rIns="0" bIns="0"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031B35"/>
          </a:solidFill>
          <a:ln/>
        </p:spPr>
      </p:sp>
      <p:pic>
        <p:nvPicPr>
          <p:cNvPr id="3" name="Image 0" descr="assets/logo_icon_transparent.png"/>
          <p:cNvPicPr>
            <a:picLocks noChangeAspect="1"/>
          </p:cNvPicPr>
          <p:nvPr/>
        </p:nvPicPr>
        <p:blipFill>
          <a:blip r:embed="rId3"/>
          <a:srcRect/>
          <a:stretch/>
        </p:blipFill>
        <p:spPr>
          <a:xfrm>
            <a:off x="1417320" y="2651760"/>
            <a:ext cx="1371600" cy="1517904"/>
          </a:xfrm>
          <a:prstGeom prst="rect">
            <a:avLst/>
          </a:prstGeom>
        </p:spPr>
      </p:pic>
      <p:sp>
        <p:nvSpPr>
          <p:cNvPr id="4" name="Text 1"/>
          <p:cNvSpPr txBox="1"/>
          <p:nvPr/>
        </p:nvSpPr>
        <p:spPr>
          <a:xfrm>
            <a:off x="457200" y="4297680"/>
            <a:ext cx="3291840" cy="822960"/>
          </a:xfrm>
          <a:prstGeom prst="rect">
            <a:avLst/>
          </a:prstGeom>
          <a:noFill/>
          <a:ln/>
        </p:spPr>
        <p:txBody>
          <a:bodyPr wrap="square" lIns="0" tIns="0" rIns="0" bIns="0" rtlCol="0" anchor="ctr"/>
          <a:lstStyle/>
          <a:p>
            <a:pPr marL="0" indent="0" algn="ctr">
              <a:buNone/>
            </a:pPr>
            <a:r>
              <a:rPr lang="en-US" sz="1500" i="1" dirty="0">
                <a:solidFill>
                  <a:srgbClr val="F2EEDD"/>
                </a:solidFill>
                <a:latin typeface="Cambria" pitchFamily="34" charset="0"/>
                <a:ea typeface="Cambria" pitchFamily="34" charset="-122"/>
                <a:cs typeface="Cambria" pitchFamily="34" charset="-120"/>
              </a:rPr>
              <a:t>Khalid Al Mansoori</a:t>
            </a:r>
            <a:endParaRPr lang="en-US" sz="1500" dirty="0"/>
          </a:p>
          <a:p>
            <a:pPr marL="0" indent="0" algn="ctr">
              <a:buNone/>
            </a:pPr>
            <a:r>
              <a:rPr lang="en-US" sz="1500" i="1" dirty="0">
                <a:solidFill>
                  <a:srgbClr val="F2EEDD"/>
                </a:solidFill>
                <a:latin typeface="Cambria" pitchFamily="34" charset="0"/>
                <a:ea typeface="Cambria" pitchFamily="34" charset="-122"/>
                <a:cs typeface="Cambria" pitchFamily="34" charset="-120"/>
              </a:rPr>
              <a:t>Properties</a:t>
            </a:r>
            <a:endParaRPr lang="en-US" sz="1500" dirty="0"/>
          </a:p>
        </p:txBody>
      </p:sp>
      <p:sp>
        <p:nvSpPr>
          <p:cNvPr id="5" name="Text 2"/>
          <p:cNvSpPr txBox="1"/>
          <p:nvPr/>
        </p:nvSpPr>
        <p:spPr>
          <a:xfrm>
            <a:off x="4663440" y="502920"/>
            <a:ext cx="7315200" cy="320040"/>
          </a:xfrm>
          <a:prstGeom prst="rect">
            <a:avLst/>
          </a:prstGeom>
          <a:noFill/>
          <a:ln/>
        </p:spPr>
        <p:txBody>
          <a:bodyPr wrap="square" lIns="0" tIns="0" rIns="0" bIns="0" rtlCol="0" anchor="ctr"/>
          <a:lstStyle/>
          <a:p>
            <a:pPr marL="0" indent="0">
              <a:buNone/>
            </a:pPr>
            <a:r>
              <a:rPr lang="en-US" sz="1200" b="1" kern="0" spc="300" dirty="0">
                <a:solidFill>
                  <a:srgbClr val="A8863A"/>
                </a:solidFill>
                <a:latin typeface="Calibri" pitchFamily="34" charset="0"/>
                <a:ea typeface="Calibri" pitchFamily="34" charset="-122"/>
                <a:cs typeface="Calibri" pitchFamily="34" charset="-120"/>
              </a:rPr>
              <a:t>BRAND OVERVIEW</a:t>
            </a:r>
            <a:endParaRPr lang="en-US" sz="1200" dirty="0"/>
          </a:p>
        </p:txBody>
      </p:sp>
      <p:sp>
        <p:nvSpPr>
          <p:cNvPr id="6" name="Text 3"/>
          <p:cNvSpPr txBox="1"/>
          <p:nvPr/>
        </p:nvSpPr>
        <p:spPr>
          <a:xfrm>
            <a:off x="4663440" y="868680"/>
            <a:ext cx="6858000" cy="1188720"/>
          </a:xfrm>
          <a:prstGeom prst="rect">
            <a:avLst/>
          </a:prstGeom>
          <a:noFill/>
          <a:ln/>
        </p:spPr>
        <p:txBody>
          <a:bodyPr wrap="square" lIns="0" tIns="0" rIns="0" bIns="0" rtlCol="0" anchor="ctr"/>
          <a:lstStyle/>
          <a:p>
            <a:pPr marL="0" indent="0">
              <a:buNone/>
            </a:pPr>
            <a:r>
              <a:rPr lang="en-US" sz="2700" b="1" dirty="0">
                <a:solidFill>
                  <a:srgbClr val="031B35"/>
                </a:solidFill>
                <a:latin typeface="Cambria" pitchFamily="34" charset="0"/>
                <a:ea typeface="Cambria" pitchFamily="34" charset="-122"/>
                <a:cs typeface="Cambria" pitchFamily="34" charset="-120"/>
              </a:rPr>
              <a:t>A name synonymous with</a:t>
            </a:r>
            <a:endParaRPr lang="en-US" sz="2700" dirty="0"/>
          </a:p>
          <a:p>
            <a:pPr marL="0" indent="0">
              <a:buNone/>
            </a:pPr>
            <a:r>
              <a:rPr lang="en-US" sz="2700" b="1" dirty="0">
                <a:solidFill>
                  <a:srgbClr val="031B35"/>
                </a:solidFill>
                <a:latin typeface="Cambria" pitchFamily="34" charset="0"/>
                <a:ea typeface="Cambria" pitchFamily="34" charset="-122"/>
                <a:cs typeface="Cambria" pitchFamily="34" charset="-120"/>
              </a:rPr>
              <a:t>Dubai's finest addresses</a:t>
            </a:r>
            <a:endParaRPr lang="en-US" sz="2700" dirty="0"/>
          </a:p>
        </p:txBody>
      </p:sp>
      <p:sp>
        <p:nvSpPr>
          <p:cNvPr id="7" name="Text 4"/>
          <p:cNvSpPr txBox="1"/>
          <p:nvPr/>
        </p:nvSpPr>
        <p:spPr>
          <a:xfrm>
            <a:off x="4663440" y="2148840"/>
            <a:ext cx="6858000" cy="1188720"/>
          </a:xfrm>
          <a:prstGeom prst="rect">
            <a:avLst/>
          </a:prstGeom>
          <a:noFill/>
          <a:ln/>
        </p:spPr>
        <p:txBody>
          <a:bodyPr wrap="square" lIns="0" tIns="0" rIns="0" bIns="0" rtlCol="0" anchor="ctr"/>
          <a:lstStyle/>
          <a:p>
            <a:pPr marL="0" indent="0">
              <a:lnSpc>
                <a:spcPct val="125000"/>
              </a:lnSpc>
              <a:buNone/>
            </a:pPr>
            <a:r>
              <a:rPr lang="en-US" sz="1250" dirty="0">
                <a:solidFill>
                  <a:srgbClr val="2B2B2B"/>
                </a:solidFill>
                <a:latin typeface="Calibri" pitchFamily="34" charset="0"/>
                <a:ea typeface="Calibri" pitchFamily="34" charset="-122"/>
                <a:cs typeface="Calibri" pitchFamily="34" charset="-120"/>
              </a:rPr>
              <a:t>Khalid Al Mansoori Properties is a Dubai-based real estate house built on discretion, market depth and an unwavering standard of service. From the towers of JLT to the villas of Palm Jumeirah, the firm curates opportunities for a clientele that expects more than a transaction — they expect a trusted advisor.</a:t>
            </a:r>
            <a:endParaRPr lang="en-US" sz="1250" dirty="0"/>
          </a:p>
        </p:txBody>
      </p:sp>
      <p:sp>
        <p:nvSpPr>
          <p:cNvPr id="8" name="Shape 5"/>
          <p:cNvSpPr/>
          <p:nvPr/>
        </p:nvSpPr>
        <p:spPr>
          <a:xfrm>
            <a:off x="4663440" y="3703320"/>
            <a:ext cx="502920" cy="502920"/>
          </a:xfrm>
          <a:prstGeom prst="ellipse">
            <a:avLst/>
          </a:prstGeom>
          <a:solidFill>
            <a:srgbClr val="F7F4EA"/>
          </a:solidFill>
          <a:ln w="12700">
            <a:solidFill>
              <a:srgbClr val="C8A74C"/>
            </a:solidFill>
            <a:prstDash val="solid"/>
          </a:ln>
        </p:spPr>
      </p:sp>
      <p:pic>
        <p:nvPicPr>
          <p:cNvPr id="9" name="Image 1" descr="icons/premium_gold.png"/>
          <p:cNvPicPr>
            <a:picLocks noChangeAspect="1"/>
          </p:cNvPicPr>
          <p:nvPr/>
        </p:nvPicPr>
        <p:blipFill>
          <a:blip r:embed="rId4"/>
          <a:stretch>
            <a:fillRect/>
          </a:stretch>
        </p:blipFill>
        <p:spPr>
          <a:xfrm>
            <a:off x="4754880" y="3794760"/>
            <a:ext cx="320040" cy="320040"/>
          </a:xfrm>
          <a:prstGeom prst="rect">
            <a:avLst/>
          </a:prstGeom>
        </p:spPr>
      </p:pic>
      <p:sp>
        <p:nvSpPr>
          <p:cNvPr id="10" name="Text 6"/>
          <p:cNvSpPr txBox="1"/>
          <p:nvPr/>
        </p:nvSpPr>
        <p:spPr>
          <a:xfrm>
            <a:off x="4663440" y="4315968"/>
            <a:ext cx="2103120" cy="320040"/>
          </a:xfrm>
          <a:prstGeom prst="rect">
            <a:avLst/>
          </a:prstGeom>
          <a:noFill/>
          <a:ln/>
        </p:spPr>
        <p:txBody>
          <a:bodyPr wrap="square" lIns="0" tIns="0" rIns="0" bIns="0" rtlCol="0" anchor="ctr"/>
          <a:lstStyle/>
          <a:p>
            <a:pPr marL="0" indent="0">
              <a:buNone/>
            </a:pPr>
            <a:r>
              <a:rPr lang="en-US" sz="1300" b="1" dirty="0">
                <a:solidFill>
                  <a:srgbClr val="031B35"/>
                </a:solidFill>
                <a:latin typeface="Cambria" pitchFamily="34" charset="0"/>
                <a:ea typeface="Cambria" pitchFamily="34" charset="-122"/>
                <a:cs typeface="Cambria" pitchFamily="34" charset="-120"/>
              </a:rPr>
              <a:t>Distinction</a:t>
            </a:r>
            <a:endParaRPr lang="en-US" sz="1300" dirty="0"/>
          </a:p>
        </p:txBody>
      </p:sp>
      <p:sp>
        <p:nvSpPr>
          <p:cNvPr id="11" name="Text 7"/>
          <p:cNvSpPr txBox="1"/>
          <p:nvPr/>
        </p:nvSpPr>
        <p:spPr>
          <a:xfrm>
            <a:off x="4663440" y="4626864"/>
            <a:ext cx="2103120" cy="1005840"/>
          </a:xfrm>
          <a:prstGeom prst="rect">
            <a:avLst/>
          </a:prstGeom>
          <a:noFill/>
          <a:ln/>
        </p:spPr>
        <p:txBody>
          <a:bodyPr wrap="square" lIns="0" tIns="0" rIns="0" bIns="0" rtlCol="0" anchor="ctr"/>
          <a:lstStyle/>
          <a:p>
            <a:pPr marL="0" indent="0">
              <a:lnSpc>
                <a:spcPct val="120000"/>
              </a:lnSpc>
              <a:buNone/>
            </a:pPr>
            <a:r>
              <a:rPr lang="en-US" sz="950" dirty="0">
                <a:solidFill>
                  <a:srgbClr val="6B6B6B"/>
                </a:solidFill>
                <a:latin typeface="Calibri" pitchFamily="34" charset="0"/>
                <a:ea typeface="Calibri" pitchFamily="34" charset="-122"/>
                <a:cs typeface="Calibri" pitchFamily="34" charset="-120"/>
              </a:rPr>
              <a:t>Every address we represent is chosen, not simply listed.</a:t>
            </a:r>
            <a:endParaRPr lang="en-US" sz="950" dirty="0"/>
          </a:p>
        </p:txBody>
      </p:sp>
      <p:sp>
        <p:nvSpPr>
          <p:cNvPr id="12" name="Shape 8"/>
          <p:cNvSpPr/>
          <p:nvPr/>
        </p:nvSpPr>
        <p:spPr>
          <a:xfrm>
            <a:off x="6995160" y="3703320"/>
            <a:ext cx="502920" cy="502920"/>
          </a:xfrm>
          <a:prstGeom prst="ellipse">
            <a:avLst/>
          </a:prstGeom>
          <a:solidFill>
            <a:srgbClr val="F7F4EA"/>
          </a:solidFill>
          <a:ln w="12700">
            <a:solidFill>
              <a:srgbClr val="C8A74C"/>
            </a:solidFill>
            <a:prstDash val="solid"/>
          </a:ln>
        </p:spPr>
      </p:sp>
      <p:pic>
        <p:nvPicPr>
          <p:cNvPr id="13" name="Image 2" descr="icons/handshake_gold.png"/>
          <p:cNvPicPr>
            <a:picLocks noChangeAspect="1"/>
          </p:cNvPicPr>
          <p:nvPr/>
        </p:nvPicPr>
        <p:blipFill>
          <a:blip r:embed="rId5"/>
          <a:stretch>
            <a:fillRect/>
          </a:stretch>
        </p:blipFill>
        <p:spPr>
          <a:xfrm>
            <a:off x="7086600" y="3794760"/>
            <a:ext cx="320040" cy="320040"/>
          </a:xfrm>
          <a:prstGeom prst="rect">
            <a:avLst/>
          </a:prstGeom>
        </p:spPr>
      </p:pic>
      <p:sp>
        <p:nvSpPr>
          <p:cNvPr id="14" name="Text 9"/>
          <p:cNvSpPr txBox="1"/>
          <p:nvPr/>
        </p:nvSpPr>
        <p:spPr>
          <a:xfrm>
            <a:off x="6995160" y="4315968"/>
            <a:ext cx="2103120" cy="320040"/>
          </a:xfrm>
          <a:prstGeom prst="rect">
            <a:avLst/>
          </a:prstGeom>
          <a:noFill/>
          <a:ln/>
        </p:spPr>
        <p:txBody>
          <a:bodyPr wrap="square" lIns="0" tIns="0" rIns="0" bIns="0" rtlCol="0" anchor="ctr"/>
          <a:lstStyle/>
          <a:p>
            <a:pPr marL="0" indent="0">
              <a:buNone/>
            </a:pPr>
            <a:r>
              <a:rPr lang="en-US" sz="1300" b="1" dirty="0">
                <a:solidFill>
                  <a:srgbClr val="031B35"/>
                </a:solidFill>
                <a:latin typeface="Cambria" pitchFamily="34" charset="0"/>
                <a:ea typeface="Cambria" pitchFamily="34" charset="-122"/>
                <a:cs typeface="Cambria" pitchFamily="34" charset="-120"/>
              </a:rPr>
              <a:t>Trust</a:t>
            </a:r>
            <a:endParaRPr lang="en-US" sz="1300" dirty="0"/>
          </a:p>
        </p:txBody>
      </p:sp>
      <p:sp>
        <p:nvSpPr>
          <p:cNvPr id="15" name="Text 10"/>
          <p:cNvSpPr txBox="1"/>
          <p:nvPr/>
        </p:nvSpPr>
        <p:spPr>
          <a:xfrm>
            <a:off x="6995160" y="4626864"/>
            <a:ext cx="2103120" cy="1005840"/>
          </a:xfrm>
          <a:prstGeom prst="rect">
            <a:avLst/>
          </a:prstGeom>
          <a:noFill/>
          <a:ln/>
        </p:spPr>
        <p:txBody>
          <a:bodyPr wrap="square" lIns="0" tIns="0" rIns="0" bIns="0" rtlCol="0" anchor="ctr"/>
          <a:lstStyle/>
          <a:p>
            <a:pPr marL="0" indent="0">
              <a:lnSpc>
                <a:spcPct val="120000"/>
              </a:lnSpc>
              <a:buNone/>
            </a:pPr>
            <a:r>
              <a:rPr lang="en-US" sz="950" dirty="0">
                <a:solidFill>
                  <a:srgbClr val="6B6B6B"/>
                </a:solidFill>
                <a:latin typeface="Calibri" pitchFamily="34" charset="0"/>
                <a:ea typeface="Calibri" pitchFamily="34" charset="-122"/>
                <a:cs typeface="Calibri" pitchFamily="34" charset="-120"/>
              </a:rPr>
              <a:t>Long-term relationships built on candour and discretion.</a:t>
            </a:r>
            <a:endParaRPr lang="en-US" sz="950" dirty="0"/>
          </a:p>
        </p:txBody>
      </p:sp>
      <p:sp>
        <p:nvSpPr>
          <p:cNvPr id="16" name="Shape 11"/>
          <p:cNvSpPr/>
          <p:nvPr/>
        </p:nvSpPr>
        <p:spPr>
          <a:xfrm>
            <a:off x="9326880" y="3703320"/>
            <a:ext cx="502920" cy="502920"/>
          </a:xfrm>
          <a:prstGeom prst="ellipse">
            <a:avLst/>
          </a:prstGeom>
          <a:solidFill>
            <a:srgbClr val="F7F4EA"/>
          </a:solidFill>
          <a:ln w="12700">
            <a:solidFill>
              <a:srgbClr val="C8A74C"/>
            </a:solidFill>
            <a:prstDash val="solid"/>
          </a:ln>
        </p:spPr>
      </p:sp>
      <p:pic>
        <p:nvPicPr>
          <p:cNvPr id="17" name="Image 3" descr="icons/verified_gold.png"/>
          <p:cNvPicPr>
            <a:picLocks noChangeAspect="1"/>
          </p:cNvPicPr>
          <p:nvPr/>
        </p:nvPicPr>
        <p:blipFill>
          <a:blip r:embed="rId6"/>
          <a:stretch>
            <a:fillRect/>
          </a:stretch>
        </p:blipFill>
        <p:spPr>
          <a:xfrm>
            <a:off x="9418320" y="3794760"/>
            <a:ext cx="320040" cy="320040"/>
          </a:xfrm>
          <a:prstGeom prst="rect">
            <a:avLst/>
          </a:prstGeom>
        </p:spPr>
      </p:pic>
      <p:sp>
        <p:nvSpPr>
          <p:cNvPr id="18" name="Text 12"/>
          <p:cNvSpPr txBox="1"/>
          <p:nvPr/>
        </p:nvSpPr>
        <p:spPr>
          <a:xfrm>
            <a:off x="9326880" y="4315968"/>
            <a:ext cx="2103120" cy="320040"/>
          </a:xfrm>
          <a:prstGeom prst="rect">
            <a:avLst/>
          </a:prstGeom>
          <a:noFill/>
          <a:ln/>
        </p:spPr>
        <p:txBody>
          <a:bodyPr wrap="square" lIns="0" tIns="0" rIns="0" bIns="0" rtlCol="0" anchor="ctr"/>
          <a:lstStyle/>
          <a:p>
            <a:pPr marL="0" indent="0">
              <a:buNone/>
            </a:pPr>
            <a:r>
              <a:rPr lang="en-US" sz="1300" b="1" dirty="0">
                <a:solidFill>
                  <a:srgbClr val="031B35"/>
                </a:solidFill>
                <a:latin typeface="Cambria" pitchFamily="34" charset="0"/>
                <a:ea typeface="Cambria" pitchFamily="34" charset="-122"/>
                <a:cs typeface="Cambria" pitchFamily="34" charset="-120"/>
              </a:rPr>
              <a:t>Precision</a:t>
            </a:r>
            <a:endParaRPr lang="en-US" sz="1300" dirty="0"/>
          </a:p>
        </p:txBody>
      </p:sp>
      <p:sp>
        <p:nvSpPr>
          <p:cNvPr id="19" name="Text 13"/>
          <p:cNvSpPr txBox="1"/>
          <p:nvPr/>
        </p:nvSpPr>
        <p:spPr>
          <a:xfrm>
            <a:off x="9326880" y="4626864"/>
            <a:ext cx="2103120" cy="1005840"/>
          </a:xfrm>
          <a:prstGeom prst="rect">
            <a:avLst/>
          </a:prstGeom>
          <a:noFill/>
          <a:ln/>
        </p:spPr>
        <p:txBody>
          <a:bodyPr wrap="square" lIns="0" tIns="0" rIns="0" bIns="0" rtlCol="0" anchor="ctr"/>
          <a:lstStyle/>
          <a:p>
            <a:pPr marL="0" indent="0">
              <a:lnSpc>
                <a:spcPct val="120000"/>
              </a:lnSpc>
              <a:buNone/>
            </a:pPr>
            <a:r>
              <a:rPr lang="en-US" sz="950" dirty="0">
                <a:solidFill>
                  <a:srgbClr val="6B6B6B"/>
                </a:solidFill>
                <a:latin typeface="Calibri" pitchFamily="34" charset="0"/>
                <a:ea typeface="Calibri" pitchFamily="34" charset="-122"/>
                <a:cs typeface="Calibri" pitchFamily="34" charset="-120"/>
              </a:rPr>
              <a:t>Market intelligence and process, delivered without friction.</a:t>
            </a:r>
            <a:endParaRPr lang="en-US" sz="950" dirty="0"/>
          </a:p>
        </p:txBody>
      </p:sp>
      <p:sp>
        <p:nvSpPr>
          <p:cNvPr id="20" name="Text 14"/>
          <p:cNvSpPr txBox="1"/>
          <p:nvPr/>
        </p:nvSpPr>
        <p:spPr>
          <a:xfrm>
            <a:off x="11548872" y="6446520"/>
            <a:ext cx="365760" cy="274320"/>
          </a:xfrm>
          <a:prstGeom prst="rect">
            <a:avLst/>
          </a:prstGeom>
          <a:noFill/>
          <a:ln/>
        </p:spPr>
        <p:txBody>
          <a:bodyPr wrap="square" lIns="0" tIns="0" rIns="0" bIns="0"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640080" y="502920"/>
            <a:ext cx="7315200" cy="320040"/>
          </a:xfrm>
          <a:prstGeom prst="rect">
            <a:avLst/>
          </a:prstGeom>
          <a:noFill/>
          <a:ln/>
        </p:spPr>
        <p:txBody>
          <a:bodyPr wrap="square" lIns="0" tIns="0" rIns="0" bIns="0" rtlCol="0" anchor="ctr"/>
          <a:lstStyle/>
          <a:p>
            <a:pPr marL="0" indent="0">
              <a:buNone/>
            </a:pPr>
            <a:r>
              <a:rPr lang="en-US" sz="1200" b="1" kern="0" spc="300" dirty="0">
                <a:solidFill>
                  <a:srgbClr val="A8863A"/>
                </a:solidFill>
                <a:latin typeface="Calibri" pitchFamily="34" charset="0"/>
                <a:ea typeface="Calibri" pitchFamily="34" charset="-122"/>
                <a:cs typeface="Calibri" pitchFamily="34" charset="-120"/>
              </a:rPr>
              <a:t>BRAND OVERVIEW</a:t>
            </a:r>
            <a:endParaRPr lang="en-US" sz="1200" dirty="0"/>
          </a:p>
        </p:txBody>
      </p:sp>
      <p:sp>
        <p:nvSpPr>
          <p:cNvPr id="3" name="Text 1"/>
          <p:cNvSpPr txBox="1"/>
          <p:nvPr/>
        </p:nvSpPr>
        <p:spPr>
          <a:xfrm>
            <a:off x="640080" y="868680"/>
            <a:ext cx="9144000" cy="640080"/>
          </a:xfrm>
          <a:prstGeom prst="rect">
            <a:avLst/>
          </a:prstGeom>
          <a:noFill/>
          <a:ln/>
        </p:spPr>
        <p:txBody>
          <a:bodyPr wrap="square" lIns="0" tIns="0" rIns="0" bIns="0" rtlCol="0" anchor="ctr"/>
          <a:lstStyle/>
          <a:p>
            <a:pPr marL="0" indent="0">
              <a:buNone/>
            </a:pPr>
            <a:r>
              <a:rPr lang="en-US" sz="3200" b="1" dirty="0">
                <a:solidFill>
                  <a:srgbClr val="031B35"/>
                </a:solidFill>
                <a:latin typeface="Cambria" pitchFamily="34" charset="0"/>
                <a:ea typeface="Cambria" pitchFamily="34" charset="-122"/>
                <a:cs typeface="Cambria" pitchFamily="34" charset="-120"/>
              </a:rPr>
              <a:t>Voice &amp; tone</a:t>
            </a:r>
            <a:endParaRPr lang="en-US" sz="3200" dirty="0"/>
          </a:p>
        </p:txBody>
      </p:sp>
      <p:sp>
        <p:nvSpPr>
          <p:cNvPr id="4" name="Text 2"/>
          <p:cNvSpPr txBox="1"/>
          <p:nvPr/>
        </p:nvSpPr>
        <p:spPr>
          <a:xfrm>
            <a:off x="640080" y="1508760"/>
            <a:ext cx="10515600" cy="457200"/>
          </a:xfrm>
          <a:prstGeom prst="rect">
            <a:avLst/>
          </a:prstGeom>
          <a:noFill/>
          <a:ln/>
        </p:spPr>
        <p:txBody>
          <a:bodyPr wrap="square" lIns="0" tIns="0" rIns="0" bIns="0" rtlCol="0" anchor="ctr"/>
          <a:lstStyle/>
          <a:p>
            <a:pPr marL="0" indent="0">
              <a:buNone/>
            </a:pPr>
            <a:r>
              <a:rPr lang="en-US" sz="1250" dirty="0">
                <a:solidFill>
                  <a:srgbClr val="6B6B6B"/>
                </a:solidFill>
                <a:latin typeface="Calibri" pitchFamily="34" charset="0"/>
                <a:ea typeface="Calibri" pitchFamily="34" charset="-122"/>
                <a:cs typeface="Calibri" pitchFamily="34" charset="-120"/>
              </a:rPr>
              <a:t>How Khalid Al Mansoori Properties sounds in writing and in person — measured, warm and never boastful.</a:t>
            </a:r>
            <a:endParaRPr lang="en-US" sz="1250" dirty="0"/>
          </a:p>
        </p:txBody>
      </p:sp>
      <p:sp>
        <p:nvSpPr>
          <p:cNvPr id="5" name="Shape 3"/>
          <p:cNvSpPr/>
          <p:nvPr/>
        </p:nvSpPr>
        <p:spPr>
          <a:xfrm>
            <a:off x="640080" y="2240280"/>
            <a:ext cx="5166360" cy="1463040"/>
          </a:xfrm>
          <a:prstGeom prst="rect">
            <a:avLst/>
          </a:prstGeom>
          <a:solidFill>
            <a:srgbClr val="F7F4EA"/>
          </a:solidFill>
          <a:ln w="9525">
            <a:solidFill>
              <a:srgbClr val="E4DDC8"/>
            </a:solidFill>
            <a:prstDash val="solid"/>
          </a:ln>
        </p:spPr>
      </p:sp>
      <p:sp>
        <p:nvSpPr>
          <p:cNvPr id="6" name="Text 4"/>
          <p:cNvSpPr txBox="1"/>
          <p:nvPr/>
        </p:nvSpPr>
        <p:spPr>
          <a:xfrm>
            <a:off x="960120" y="2423160"/>
            <a:ext cx="4572000" cy="365760"/>
          </a:xfrm>
          <a:prstGeom prst="rect">
            <a:avLst/>
          </a:prstGeom>
          <a:noFill/>
          <a:ln/>
        </p:spPr>
        <p:txBody>
          <a:bodyPr wrap="square" lIns="0" tIns="0" rIns="0" bIns="0" rtlCol="0" anchor="ctr"/>
          <a:lstStyle/>
          <a:p>
            <a:pPr marL="0" indent="0">
              <a:buNone/>
            </a:pPr>
            <a:r>
              <a:rPr lang="en-US" sz="1500" b="1" dirty="0">
                <a:solidFill>
                  <a:srgbClr val="031B35"/>
                </a:solidFill>
                <a:latin typeface="Cambria" pitchFamily="34" charset="0"/>
                <a:ea typeface="Cambria" pitchFamily="34" charset="-122"/>
                <a:cs typeface="Cambria" pitchFamily="34" charset="-120"/>
              </a:rPr>
              <a:t>Refined, not ornate</a:t>
            </a:r>
            <a:endParaRPr lang="en-US" sz="1500" dirty="0"/>
          </a:p>
        </p:txBody>
      </p:sp>
      <p:sp>
        <p:nvSpPr>
          <p:cNvPr id="7" name="Text 5"/>
          <p:cNvSpPr txBox="1"/>
          <p:nvPr/>
        </p:nvSpPr>
        <p:spPr>
          <a:xfrm>
            <a:off x="960120" y="2862072"/>
            <a:ext cx="4572000" cy="731520"/>
          </a:xfrm>
          <a:prstGeom prst="rect">
            <a:avLst/>
          </a:prstGeom>
          <a:noFill/>
          <a:ln/>
        </p:spPr>
        <p:txBody>
          <a:bodyPr wrap="square" lIns="0" tIns="0" rIns="0" bIns="0" rtlCol="0" anchor="ctr"/>
          <a:lstStyle/>
          <a:p>
            <a:pPr marL="0" indent="0">
              <a:lnSpc>
                <a:spcPct val="125000"/>
              </a:lnSpc>
              <a:buNone/>
            </a:pPr>
            <a:r>
              <a:rPr lang="en-US" sz="1150" dirty="0">
                <a:solidFill>
                  <a:srgbClr val="2B2B2B"/>
                </a:solidFill>
                <a:latin typeface="Calibri" pitchFamily="34" charset="0"/>
                <a:ea typeface="Calibri" pitchFamily="34" charset="-122"/>
                <a:cs typeface="Calibri" pitchFamily="34" charset="-120"/>
              </a:rPr>
              <a:t>We write with restraint. One well-chosen word beats three superlatives.</a:t>
            </a:r>
            <a:endParaRPr lang="en-US" sz="1150" dirty="0"/>
          </a:p>
        </p:txBody>
      </p:sp>
      <p:sp>
        <p:nvSpPr>
          <p:cNvPr id="8" name="Shape 6"/>
          <p:cNvSpPr/>
          <p:nvPr/>
        </p:nvSpPr>
        <p:spPr>
          <a:xfrm>
            <a:off x="6172200" y="2240280"/>
            <a:ext cx="5166360" cy="1463040"/>
          </a:xfrm>
          <a:prstGeom prst="rect">
            <a:avLst/>
          </a:prstGeom>
          <a:solidFill>
            <a:srgbClr val="F7F4EA"/>
          </a:solidFill>
          <a:ln w="9525">
            <a:solidFill>
              <a:srgbClr val="E4DDC8"/>
            </a:solidFill>
            <a:prstDash val="solid"/>
          </a:ln>
        </p:spPr>
      </p:sp>
      <p:sp>
        <p:nvSpPr>
          <p:cNvPr id="9" name="Text 7"/>
          <p:cNvSpPr txBox="1"/>
          <p:nvPr/>
        </p:nvSpPr>
        <p:spPr>
          <a:xfrm>
            <a:off x="6492240" y="2423160"/>
            <a:ext cx="4572000" cy="365760"/>
          </a:xfrm>
          <a:prstGeom prst="rect">
            <a:avLst/>
          </a:prstGeom>
          <a:noFill/>
          <a:ln/>
        </p:spPr>
        <p:txBody>
          <a:bodyPr wrap="square" lIns="0" tIns="0" rIns="0" bIns="0" rtlCol="0" anchor="ctr"/>
          <a:lstStyle/>
          <a:p>
            <a:pPr marL="0" indent="0">
              <a:buNone/>
            </a:pPr>
            <a:r>
              <a:rPr lang="en-US" sz="1500" b="1" dirty="0">
                <a:solidFill>
                  <a:srgbClr val="031B35"/>
                </a:solidFill>
                <a:latin typeface="Cambria" pitchFamily="34" charset="0"/>
                <a:ea typeface="Cambria" pitchFamily="34" charset="-122"/>
                <a:cs typeface="Cambria" pitchFamily="34" charset="-120"/>
              </a:rPr>
              <a:t>Confident, not boastful</a:t>
            </a:r>
            <a:endParaRPr lang="en-US" sz="1500" dirty="0"/>
          </a:p>
        </p:txBody>
      </p:sp>
      <p:sp>
        <p:nvSpPr>
          <p:cNvPr id="10" name="Text 8"/>
          <p:cNvSpPr txBox="1"/>
          <p:nvPr/>
        </p:nvSpPr>
        <p:spPr>
          <a:xfrm>
            <a:off x="6492240" y="2862072"/>
            <a:ext cx="4572000" cy="731520"/>
          </a:xfrm>
          <a:prstGeom prst="rect">
            <a:avLst/>
          </a:prstGeom>
          <a:noFill/>
          <a:ln/>
        </p:spPr>
        <p:txBody>
          <a:bodyPr wrap="square" lIns="0" tIns="0" rIns="0" bIns="0" rtlCol="0" anchor="ctr"/>
          <a:lstStyle/>
          <a:p>
            <a:pPr marL="0" indent="0">
              <a:lnSpc>
                <a:spcPct val="125000"/>
              </a:lnSpc>
              <a:buNone/>
            </a:pPr>
            <a:r>
              <a:rPr lang="en-US" sz="1150" dirty="0">
                <a:solidFill>
                  <a:srgbClr val="2B2B2B"/>
                </a:solidFill>
                <a:latin typeface="Calibri" pitchFamily="34" charset="0"/>
                <a:ea typeface="Calibri" pitchFamily="34" charset="-122"/>
                <a:cs typeface="Calibri" pitchFamily="34" charset="-120"/>
              </a:rPr>
              <a:t>We let the property and the numbers make the case.</a:t>
            </a:r>
            <a:endParaRPr lang="en-US" sz="1150" dirty="0"/>
          </a:p>
        </p:txBody>
      </p:sp>
      <p:sp>
        <p:nvSpPr>
          <p:cNvPr id="11" name="Shape 9"/>
          <p:cNvSpPr/>
          <p:nvPr/>
        </p:nvSpPr>
        <p:spPr>
          <a:xfrm>
            <a:off x="640080" y="3931920"/>
            <a:ext cx="5166360" cy="1463040"/>
          </a:xfrm>
          <a:prstGeom prst="rect">
            <a:avLst/>
          </a:prstGeom>
          <a:solidFill>
            <a:srgbClr val="F7F4EA"/>
          </a:solidFill>
          <a:ln w="9525">
            <a:solidFill>
              <a:srgbClr val="E4DDC8"/>
            </a:solidFill>
            <a:prstDash val="solid"/>
          </a:ln>
        </p:spPr>
      </p:sp>
      <p:sp>
        <p:nvSpPr>
          <p:cNvPr id="12" name="Text 10"/>
          <p:cNvSpPr txBox="1"/>
          <p:nvPr/>
        </p:nvSpPr>
        <p:spPr>
          <a:xfrm>
            <a:off x="960120" y="4114800"/>
            <a:ext cx="4572000" cy="365760"/>
          </a:xfrm>
          <a:prstGeom prst="rect">
            <a:avLst/>
          </a:prstGeom>
          <a:noFill/>
          <a:ln/>
        </p:spPr>
        <p:txBody>
          <a:bodyPr wrap="square" lIns="0" tIns="0" rIns="0" bIns="0" rtlCol="0" anchor="ctr"/>
          <a:lstStyle/>
          <a:p>
            <a:pPr marL="0" indent="0">
              <a:buNone/>
            </a:pPr>
            <a:r>
              <a:rPr lang="en-US" sz="1500" b="1" dirty="0">
                <a:solidFill>
                  <a:srgbClr val="031B35"/>
                </a:solidFill>
                <a:latin typeface="Cambria" pitchFamily="34" charset="0"/>
                <a:ea typeface="Cambria" pitchFamily="34" charset="-122"/>
                <a:cs typeface="Cambria" pitchFamily="34" charset="-120"/>
              </a:rPr>
              <a:t>Warm, not casual</a:t>
            </a:r>
            <a:endParaRPr lang="en-US" sz="1500" dirty="0"/>
          </a:p>
        </p:txBody>
      </p:sp>
      <p:sp>
        <p:nvSpPr>
          <p:cNvPr id="13" name="Text 11"/>
          <p:cNvSpPr txBox="1"/>
          <p:nvPr/>
        </p:nvSpPr>
        <p:spPr>
          <a:xfrm>
            <a:off x="960120" y="4553712"/>
            <a:ext cx="4572000" cy="731520"/>
          </a:xfrm>
          <a:prstGeom prst="rect">
            <a:avLst/>
          </a:prstGeom>
          <a:noFill/>
          <a:ln/>
        </p:spPr>
        <p:txBody>
          <a:bodyPr wrap="square" lIns="0" tIns="0" rIns="0" bIns="0" rtlCol="0" anchor="ctr"/>
          <a:lstStyle/>
          <a:p>
            <a:pPr marL="0" indent="0">
              <a:lnSpc>
                <a:spcPct val="125000"/>
              </a:lnSpc>
              <a:buNone/>
            </a:pPr>
            <a:r>
              <a:rPr lang="en-US" sz="1150" dirty="0">
                <a:solidFill>
                  <a:srgbClr val="2B2B2B"/>
                </a:solidFill>
                <a:latin typeface="Calibri" pitchFamily="34" charset="0"/>
                <a:ea typeface="Calibri" pitchFamily="34" charset="-122"/>
                <a:cs typeface="Calibri" pitchFamily="34" charset="-120"/>
              </a:rPr>
              <a:t>Correspondence stays personal without slipping into informality.</a:t>
            </a:r>
            <a:endParaRPr lang="en-US" sz="1150" dirty="0"/>
          </a:p>
        </p:txBody>
      </p:sp>
      <p:sp>
        <p:nvSpPr>
          <p:cNvPr id="14" name="Shape 12"/>
          <p:cNvSpPr/>
          <p:nvPr/>
        </p:nvSpPr>
        <p:spPr>
          <a:xfrm>
            <a:off x="6172200" y="3931920"/>
            <a:ext cx="5166360" cy="1463040"/>
          </a:xfrm>
          <a:prstGeom prst="rect">
            <a:avLst/>
          </a:prstGeom>
          <a:solidFill>
            <a:srgbClr val="F7F4EA"/>
          </a:solidFill>
          <a:ln w="9525">
            <a:solidFill>
              <a:srgbClr val="E4DDC8"/>
            </a:solidFill>
            <a:prstDash val="solid"/>
          </a:ln>
        </p:spPr>
      </p:sp>
      <p:sp>
        <p:nvSpPr>
          <p:cNvPr id="15" name="Text 13"/>
          <p:cNvSpPr txBox="1"/>
          <p:nvPr/>
        </p:nvSpPr>
        <p:spPr>
          <a:xfrm>
            <a:off x="6492240" y="4114800"/>
            <a:ext cx="4572000" cy="365760"/>
          </a:xfrm>
          <a:prstGeom prst="rect">
            <a:avLst/>
          </a:prstGeom>
          <a:noFill/>
          <a:ln/>
        </p:spPr>
        <p:txBody>
          <a:bodyPr wrap="square" lIns="0" tIns="0" rIns="0" bIns="0" rtlCol="0" anchor="ctr"/>
          <a:lstStyle/>
          <a:p>
            <a:pPr marL="0" indent="0">
              <a:buNone/>
            </a:pPr>
            <a:r>
              <a:rPr lang="en-US" sz="1500" b="1" dirty="0">
                <a:solidFill>
                  <a:srgbClr val="031B35"/>
                </a:solidFill>
                <a:latin typeface="Cambria" pitchFamily="34" charset="0"/>
                <a:ea typeface="Cambria" pitchFamily="34" charset="-122"/>
                <a:cs typeface="Cambria" pitchFamily="34" charset="-120"/>
              </a:rPr>
              <a:t>Precise, not clinical</a:t>
            </a:r>
            <a:endParaRPr lang="en-US" sz="1500" dirty="0"/>
          </a:p>
        </p:txBody>
      </p:sp>
      <p:sp>
        <p:nvSpPr>
          <p:cNvPr id="16" name="Text 14"/>
          <p:cNvSpPr txBox="1"/>
          <p:nvPr/>
        </p:nvSpPr>
        <p:spPr>
          <a:xfrm>
            <a:off x="6492240" y="4553712"/>
            <a:ext cx="4572000" cy="731520"/>
          </a:xfrm>
          <a:prstGeom prst="rect">
            <a:avLst/>
          </a:prstGeom>
          <a:noFill/>
          <a:ln/>
        </p:spPr>
        <p:txBody>
          <a:bodyPr wrap="square" lIns="0" tIns="0" rIns="0" bIns="0" rtlCol="0" anchor="ctr"/>
          <a:lstStyle/>
          <a:p>
            <a:pPr marL="0" indent="0">
              <a:lnSpc>
                <a:spcPct val="125000"/>
              </a:lnSpc>
              <a:buNone/>
            </a:pPr>
            <a:r>
              <a:rPr lang="en-US" sz="1150" dirty="0">
                <a:solidFill>
                  <a:srgbClr val="2B2B2B"/>
                </a:solidFill>
                <a:latin typeface="Calibri" pitchFamily="34" charset="0"/>
                <a:ea typeface="Calibri" pitchFamily="34" charset="-122"/>
                <a:cs typeface="Calibri" pitchFamily="34" charset="-120"/>
              </a:rPr>
              <a:t>Facts, figures and timelines are stated plainly and completely.</a:t>
            </a:r>
            <a:endParaRPr lang="en-US" sz="1150" dirty="0"/>
          </a:p>
        </p:txBody>
      </p:sp>
      <p:sp>
        <p:nvSpPr>
          <p:cNvPr id="17" name="Text 15"/>
          <p:cNvSpPr txBox="1"/>
          <p:nvPr/>
        </p:nvSpPr>
        <p:spPr>
          <a:xfrm>
            <a:off x="11548872" y="6446520"/>
            <a:ext cx="365760" cy="274320"/>
          </a:xfrm>
          <a:prstGeom prst="rect">
            <a:avLst/>
          </a:prstGeom>
          <a:noFill/>
          <a:ln/>
        </p:spPr>
        <p:txBody>
          <a:bodyPr wrap="square" lIns="0" tIns="0" rIns="0" bIns="0"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40080" y="502920"/>
            <a:ext cx="7315200" cy="320040"/>
          </a:xfrm>
          <a:prstGeom prst="rect">
            <a:avLst/>
          </a:prstGeom>
          <a:noFill/>
          <a:ln/>
        </p:spPr>
        <p:txBody>
          <a:bodyPr wrap="square" lIns="0" tIns="0" rIns="0" bIns="0" rtlCol="0" anchor="ctr"/>
          <a:lstStyle/>
          <a:p>
            <a:pPr marL="0" indent="0">
              <a:buNone/>
            </a:pPr>
            <a:r>
              <a:rPr lang="en-US" sz="1200" b="1" kern="0" spc="300" dirty="0">
                <a:solidFill>
                  <a:srgbClr val="A8863A"/>
                </a:solidFill>
                <a:latin typeface="Calibri" pitchFamily="34" charset="0"/>
                <a:ea typeface="Calibri" pitchFamily="34" charset="-122"/>
                <a:cs typeface="Calibri" pitchFamily="34" charset="-120"/>
              </a:rPr>
              <a:t>LOGO SYSTEM</a:t>
            </a:r>
            <a:endParaRPr lang="en-US" sz="1200" dirty="0"/>
          </a:p>
        </p:txBody>
      </p:sp>
      <p:sp>
        <p:nvSpPr>
          <p:cNvPr id="3" name="Text 1"/>
          <p:cNvSpPr txBox="1"/>
          <p:nvPr/>
        </p:nvSpPr>
        <p:spPr>
          <a:xfrm>
            <a:off x="640080" y="868680"/>
            <a:ext cx="9144000" cy="640080"/>
          </a:xfrm>
          <a:prstGeom prst="rect">
            <a:avLst/>
          </a:prstGeom>
          <a:noFill/>
          <a:ln/>
        </p:spPr>
        <p:txBody>
          <a:bodyPr wrap="square" lIns="0" tIns="0" rIns="0" bIns="0" rtlCol="0" anchor="ctr"/>
          <a:lstStyle/>
          <a:p>
            <a:pPr marL="0" indent="0">
              <a:buNone/>
            </a:pPr>
            <a:r>
              <a:rPr lang="en-US" sz="3200" b="1" dirty="0">
                <a:solidFill>
                  <a:srgbClr val="031B35"/>
                </a:solidFill>
                <a:latin typeface="Cambria" pitchFamily="34" charset="0"/>
                <a:ea typeface="Cambria" pitchFamily="34" charset="-122"/>
                <a:cs typeface="Cambria" pitchFamily="34" charset="-120"/>
              </a:rPr>
              <a:t>Primary lockup</a:t>
            </a:r>
            <a:endParaRPr lang="en-US" sz="3200" dirty="0"/>
          </a:p>
        </p:txBody>
      </p:sp>
      <p:sp>
        <p:nvSpPr>
          <p:cNvPr id="4" name="Text 2"/>
          <p:cNvSpPr txBox="1"/>
          <p:nvPr/>
        </p:nvSpPr>
        <p:spPr>
          <a:xfrm>
            <a:off x="640080" y="1508760"/>
            <a:ext cx="6583680" cy="822960"/>
          </a:xfrm>
          <a:prstGeom prst="rect">
            <a:avLst/>
          </a:prstGeom>
          <a:noFill/>
          <a:ln/>
        </p:spPr>
        <p:txBody>
          <a:bodyPr wrap="square" lIns="0" tIns="0" rIns="0" bIns="0" rtlCol="0" anchor="ctr"/>
          <a:lstStyle/>
          <a:p>
            <a:pPr marL="0" indent="0">
              <a:lnSpc>
                <a:spcPct val="125000"/>
              </a:lnSpc>
              <a:buNone/>
            </a:pPr>
            <a:r>
              <a:rPr lang="en-US" sz="1200" dirty="0">
                <a:solidFill>
                  <a:srgbClr val="6B6B6B"/>
                </a:solidFill>
                <a:latin typeface="Calibri" pitchFamily="34" charset="0"/>
                <a:ea typeface="Calibri" pitchFamily="34" charset="-122"/>
                <a:cs typeface="Calibri" pitchFamily="34" charset="-120"/>
              </a:rPr>
              <a:t>The full lockup — emblem, wordmark and “Properties” line — is the primary signature of the brand. Use it whenever space allows.</a:t>
            </a:r>
            <a:endParaRPr lang="en-US" sz="1200" dirty="0"/>
          </a:p>
        </p:txBody>
      </p:sp>
      <p:sp>
        <p:nvSpPr>
          <p:cNvPr id="5" name="Shape 3"/>
          <p:cNvSpPr/>
          <p:nvPr/>
        </p:nvSpPr>
        <p:spPr>
          <a:xfrm>
            <a:off x="640080" y="2514600"/>
            <a:ext cx="5349240" cy="3749040"/>
          </a:xfrm>
          <a:prstGeom prst="rect">
            <a:avLst/>
          </a:prstGeom>
          <a:solidFill>
            <a:srgbClr val="FFFFFF"/>
          </a:solidFill>
          <a:ln w="9525">
            <a:solidFill>
              <a:srgbClr val="E4DDC8"/>
            </a:solidFill>
            <a:prstDash val="solid"/>
          </a:ln>
        </p:spPr>
      </p:sp>
      <p:pic>
        <p:nvPicPr>
          <p:cNvPr id="6" name="Image 0" descr="assets/logo_full_transparent.png"/>
          <p:cNvPicPr>
            <a:picLocks noChangeAspect="1"/>
          </p:cNvPicPr>
          <p:nvPr/>
        </p:nvPicPr>
        <p:blipFill>
          <a:blip r:embed="rId3"/>
          <a:srcRect/>
          <a:stretch/>
        </p:blipFill>
        <p:spPr>
          <a:xfrm>
            <a:off x="1417320" y="3246120"/>
            <a:ext cx="3794760" cy="2606040"/>
          </a:xfrm>
          <a:prstGeom prst="rect">
            <a:avLst/>
          </a:prstGeom>
        </p:spPr>
      </p:pic>
      <p:sp>
        <p:nvSpPr>
          <p:cNvPr id="7" name="Text 4"/>
          <p:cNvSpPr txBox="1"/>
          <p:nvPr/>
        </p:nvSpPr>
        <p:spPr>
          <a:xfrm>
            <a:off x="640080" y="5989320"/>
            <a:ext cx="5349240" cy="274320"/>
          </a:xfrm>
          <a:prstGeom prst="rect">
            <a:avLst/>
          </a:prstGeom>
          <a:noFill/>
          <a:ln/>
        </p:spPr>
        <p:txBody>
          <a:bodyPr wrap="square" lIns="0" tIns="0" rIns="0" bIns="0" rtlCol="0" anchor="ctr"/>
          <a:lstStyle/>
          <a:p>
            <a:pPr marL="0" indent="0" algn="ctr">
              <a:buNone/>
            </a:pPr>
            <a:r>
              <a:rPr lang="en-US" sz="1000" dirty="0">
                <a:solidFill>
                  <a:srgbClr val="6B6B6B"/>
                </a:solidFill>
                <a:latin typeface="Calibri" pitchFamily="34" charset="0"/>
                <a:ea typeface="Calibri" pitchFamily="34" charset="-122"/>
                <a:cs typeface="Calibri" pitchFamily="34" charset="-120"/>
              </a:rPr>
              <a:t>On light backgrounds</a:t>
            </a:r>
            <a:endParaRPr lang="en-US" sz="1000" dirty="0"/>
          </a:p>
        </p:txBody>
      </p:sp>
      <p:sp>
        <p:nvSpPr>
          <p:cNvPr id="8" name="Shape 5"/>
          <p:cNvSpPr/>
          <p:nvPr/>
        </p:nvSpPr>
        <p:spPr>
          <a:xfrm>
            <a:off x="6263640" y="2514600"/>
            <a:ext cx="5257800" cy="3749040"/>
          </a:xfrm>
          <a:prstGeom prst="rect">
            <a:avLst/>
          </a:prstGeom>
          <a:solidFill>
            <a:srgbClr val="031B35"/>
          </a:solidFill>
          <a:ln/>
        </p:spPr>
      </p:sp>
      <p:pic>
        <p:nvPicPr>
          <p:cNvPr id="9" name="Image 1" descr="assets/logo_full_reversed.png"/>
          <p:cNvPicPr>
            <a:picLocks noChangeAspect="1"/>
          </p:cNvPicPr>
          <p:nvPr/>
        </p:nvPicPr>
        <p:blipFill>
          <a:blip r:embed="rId4"/>
          <a:srcRect/>
          <a:stretch/>
        </p:blipFill>
        <p:spPr>
          <a:xfrm>
            <a:off x="6995160" y="3246120"/>
            <a:ext cx="3794760" cy="2606040"/>
          </a:xfrm>
          <a:prstGeom prst="rect">
            <a:avLst/>
          </a:prstGeom>
        </p:spPr>
      </p:pic>
      <p:sp>
        <p:nvSpPr>
          <p:cNvPr id="10" name="Text 6"/>
          <p:cNvSpPr txBox="1"/>
          <p:nvPr/>
        </p:nvSpPr>
        <p:spPr>
          <a:xfrm>
            <a:off x="6263640" y="5989320"/>
            <a:ext cx="5257800" cy="274320"/>
          </a:xfrm>
          <a:prstGeom prst="rect">
            <a:avLst/>
          </a:prstGeom>
          <a:noFill/>
          <a:ln/>
        </p:spPr>
        <p:txBody>
          <a:bodyPr wrap="square" lIns="0" tIns="0" rIns="0" bIns="0" rtlCol="0" anchor="ctr"/>
          <a:lstStyle/>
          <a:p>
            <a:pPr marL="0" indent="0" algn="ctr">
              <a:buNone/>
            </a:pPr>
            <a:r>
              <a:rPr lang="en-US" sz="1000" dirty="0">
                <a:solidFill>
                  <a:srgbClr val="C9D2DC"/>
                </a:solidFill>
                <a:latin typeface="Calibri" pitchFamily="34" charset="0"/>
                <a:ea typeface="Calibri" pitchFamily="34" charset="-122"/>
                <a:cs typeface="Calibri" pitchFamily="34" charset="-120"/>
              </a:rPr>
              <a:t>On dark backgrounds</a:t>
            </a:r>
            <a:endParaRPr lang="en-US" sz="1000" dirty="0"/>
          </a:p>
        </p:txBody>
      </p:sp>
      <p:sp>
        <p:nvSpPr>
          <p:cNvPr id="11" name="Text 7"/>
          <p:cNvSpPr txBox="1"/>
          <p:nvPr/>
        </p:nvSpPr>
        <p:spPr>
          <a:xfrm>
            <a:off x="11548872" y="6446520"/>
            <a:ext cx="365760" cy="274320"/>
          </a:xfrm>
          <a:prstGeom prst="rect">
            <a:avLst/>
          </a:prstGeom>
          <a:noFill/>
          <a:ln/>
        </p:spPr>
        <p:txBody>
          <a:bodyPr wrap="square" lIns="0" tIns="0" rIns="0" bIns="0"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40080" y="502920"/>
            <a:ext cx="7315200" cy="320040"/>
          </a:xfrm>
          <a:prstGeom prst="rect">
            <a:avLst/>
          </a:prstGeom>
          <a:noFill/>
          <a:ln/>
        </p:spPr>
        <p:txBody>
          <a:bodyPr wrap="square" lIns="0" tIns="0" rIns="0" bIns="0" rtlCol="0" anchor="ctr"/>
          <a:lstStyle/>
          <a:p>
            <a:pPr marL="0" indent="0">
              <a:buNone/>
            </a:pPr>
            <a:r>
              <a:rPr lang="en-US" sz="1200" b="1" kern="0" spc="300" dirty="0">
                <a:solidFill>
                  <a:srgbClr val="A8863A"/>
                </a:solidFill>
                <a:latin typeface="Calibri" pitchFamily="34" charset="0"/>
                <a:ea typeface="Calibri" pitchFamily="34" charset="-122"/>
                <a:cs typeface="Calibri" pitchFamily="34" charset="-120"/>
              </a:rPr>
              <a:t>LOGO SYSTEM</a:t>
            </a:r>
            <a:endParaRPr lang="en-US" sz="1200" dirty="0"/>
          </a:p>
        </p:txBody>
      </p:sp>
      <p:sp>
        <p:nvSpPr>
          <p:cNvPr id="3" name="Text 1"/>
          <p:cNvSpPr txBox="1"/>
          <p:nvPr/>
        </p:nvSpPr>
        <p:spPr>
          <a:xfrm>
            <a:off x="640080" y="868680"/>
            <a:ext cx="9144000" cy="640080"/>
          </a:xfrm>
          <a:prstGeom prst="rect">
            <a:avLst/>
          </a:prstGeom>
          <a:noFill/>
          <a:ln/>
        </p:spPr>
        <p:txBody>
          <a:bodyPr wrap="square" lIns="0" tIns="0" rIns="0" bIns="0" rtlCol="0" anchor="ctr"/>
          <a:lstStyle/>
          <a:p>
            <a:pPr marL="0" indent="0">
              <a:buNone/>
            </a:pPr>
            <a:r>
              <a:rPr lang="en-US" sz="3200" b="1" dirty="0">
                <a:solidFill>
                  <a:srgbClr val="031B35"/>
                </a:solidFill>
                <a:latin typeface="Cambria" pitchFamily="34" charset="0"/>
                <a:ea typeface="Cambria" pitchFamily="34" charset="-122"/>
                <a:cs typeface="Cambria" pitchFamily="34" charset="-120"/>
              </a:rPr>
              <a:t>Variations</a:t>
            </a:r>
            <a:endParaRPr lang="en-US" sz="3200" dirty="0"/>
          </a:p>
        </p:txBody>
      </p:sp>
      <p:sp>
        <p:nvSpPr>
          <p:cNvPr id="4" name="Text 2"/>
          <p:cNvSpPr txBox="1"/>
          <p:nvPr/>
        </p:nvSpPr>
        <p:spPr>
          <a:xfrm>
            <a:off x="640080" y="1508760"/>
            <a:ext cx="10424160" cy="457200"/>
          </a:xfrm>
          <a:prstGeom prst="rect">
            <a:avLst/>
          </a:prstGeom>
          <a:noFill/>
          <a:ln/>
        </p:spPr>
        <p:txBody>
          <a:bodyPr wrap="square" lIns="0" tIns="0" rIns="0" bIns="0" rtlCol="0" anchor="ctr"/>
          <a:lstStyle/>
          <a:p>
            <a:pPr marL="0" indent="0">
              <a:buNone/>
            </a:pPr>
            <a:r>
              <a:rPr lang="en-US" sz="1200" dirty="0">
                <a:solidFill>
                  <a:srgbClr val="6B6B6B"/>
                </a:solidFill>
                <a:latin typeface="Calibri" pitchFamily="34" charset="0"/>
                <a:ea typeface="Calibri" pitchFamily="34" charset="-122"/>
                <a:cs typeface="Calibri" pitchFamily="34" charset="-120"/>
              </a:rPr>
              <a:t>Use the emblem alone for small-format and social applications where the full lockup will not read clearly.</a:t>
            </a:r>
            <a:endParaRPr lang="en-US" sz="1200" dirty="0"/>
          </a:p>
        </p:txBody>
      </p:sp>
      <p:sp>
        <p:nvSpPr>
          <p:cNvPr id="5" name="Shape 3"/>
          <p:cNvSpPr/>
          <p:nvPr/>
        </p:nvSpPr>
        <p:spPr>
          <a:xfrm>
            <a:off x="640080" y="2148840"/>
            <a:ext cx="2514600" cy="3291840"/>
          </a:xfrm>
          <a:prstGeom prst="rect">
            <a:avLst/>
          </a:prstGeom>
          <a:solidFill>
            <a:srgbClr val="FFFFFF"/>
          </a:solidFill>
          <a:ln w="9525">
            <a:solidFill>
              <a:srgbClr val="E4DDC8"/>
            </a:solidFill>
            <a:prstDash val="solid"/>
          </a:ln>
        </p:spPr>
      </p:sp>
      <p:pic>
        <p:nvPicPr>
          <p:cNvPr id="6" name="Image 0" descr="assets/logo_icon_transparent.png"/>
          <p:cNvPicPr>
            <a:picLocks noChangeAspect="1"/>
          </p:cNvPicPr>
          <p:nvPr/>
        </p:nvPicPr>
        <p:blipFill>
          <a:blip r:embed="rId3"/>
          <a:srcRect/>
          <a:stretch/>
        </p:blipFill>
        <p:spPr>
          <a:xfrm>
            <a:off x="1211580" y="2898648"/>
            <a:ext cx="1371600" cy="1517904"/>
          </a:xfrm>
          <a:prstGeom prst="rect">
            <a:avLst/>
          </a:prstGeom>
        </p:spPr>
      </p:pic>
      <p:sp>
        <p:nvSpPr>
          <p:cNvPr id="7" name="Text 4"/>
          <p:cNvSpPr txBox="1"/>
          <p:nvPr/>
        </p:nvSpPr>
        <p:spPr>
          <a:xfrm>
            <a:off x="640080" y="4983480"/>
            <a:ext cx="2514600" cy="320040"/>
          </a:xfrm>
          <a:prstGeom prst="rect">
            <a:avLst/>
          </a:prstGeom>
          <a:noFill/>
          <a:ln/>
        </p:spPr>
        <p:txBody>
          <a:bodyPr wrap="square" lIns="0" tIns="0" rIns="0" bIns="0" rtlCol="0" anchor="ctr"/>
          <a:lstStyle/>
          <a:p>
            <a:pPr marL="0" indent="0" algn="ctr">
              <a:buNone/>
            </a:pPr>
            <a:r>
              <a:rPr lang="en-US" sz="950" dirty="0">
                <a:solidFill>
                  <a:srgbClr val="6B6B6B"/>
                </a:solidFill>
                <a:latin typeface="Calibri" pitchFamily="34" charset="0"/>
                <a:ea typeface="Calibri" pitchFamily="34" charset="-122"/>
                <a:cs typeface="Calibri" pitchFamily="34" charset="-120"/>
              </a:rPr>
              <a:t>Emblem — color</a:t>
            </a:r>
            <a:endParaRPr lang="en-US" sz="950" dirty="0"/>
          </a:p>
        </p:txBody>
      </p:sp>
      <p:sp>
        <p:nvSpPr>
          <p:cNvPr id="8" name="Shape 5"/>
          <p:cNvSpPr/>
          <p:nvPr/>
        </p:nvSpPr>
        <p:spPr>
          <a:xfrm>
            <a:off x="3474720" y="2148840"/>
            <a:ext cx="2514600" cy="3291840"/>
          </a:xfrm>
          <a:prstGeom prst="rect">
            <a:avLst/>
          </a:prstGeom>
          <a:solidFill>
            <a:srgbClr val="031B35"/>
          </a:solidFill>
          <a:ln w="9525">
            <a:solidFill>
              <a:srgbClr val="E4DDC8"/>
            </a:solidFill>
            <a:prstDash val="solid"/>
          </a:ln>
        </p:spPr>
      </p:sp>
      <p:pic>
        <p:nvPicPr>
          <p:cNvPr id="9" name="Image 1" descr="assets/logo_icon_transparent.png"/>
          <p:cNvPicPr>
            <a:picLocks noChangeAspect="1"/>
          </p:cNvPicPr>
          <p:nvPr/>
        </p:nvPicPr>
        <p:blipFill>
          <a:blip r:embed="rId3"/>
          <a:srcRect/>
          <a:stretch/>
        </p:blipFill>
        <p:spPr>
          <a:xfrm>
            <a:off x="4046220" y="2898648"/>
            <a:ext cx="1371600" cy="1517904"/>
          </a:xfrm>
          <a:prstGeom prst="rect">
            <a:avLst/>
          </a:prstGeom>
        </p:spPr>
      </p:pic>
      <p:sp>
        <p:nvSpPr>
          <p:cNvPr id="10" name="Text 6"/>
          <p:cNvSpPr txBox="1"/>
          <p:nvPr/>
        </p:nvSpPr>
        <p:spPr>
          <a:xfrm>
            <a:off x="3474720" y="4983480"/>
            <a:ext cx="2514600" cy="320040"/>
          </a:xfrm>
          <a:prstGeom prst="rect">
            <a:avLst/>
          </a:prstGeom>
          <a:noFill/>
          <a:ln/>
        </p:spPr>
        <p:txBody>
          <a:bodyPr wrap="square" lIns="0" tIns="0" rIns="0" bIns="0" rtlCol="0" anchor="ctr"/>
          <a:lstStyle/>
          <a:p>
            <a:pPr marL="0" indent="0" algn="ctr">
              <a:buNone/>
            </a:pPr>
            <a:r>
              <a:rPr lang="en-US" sz="950" dirty="0">
                <a:solidFill>
                  <a:srgbClr val="C9D2DC"/>
                </a:solidFill>
                <a:latin typeface="Calibri" pitchFamily="34" charset="0"/>
                <a:ea typeface="Calibri" pitchFamily="34" charset="-122"/>
                <a:cs typeface="Calibri" pitchFamily="34" charset="-120"/>
              </a:rPr>
              <a:t>Emblem — on navy</a:t>
            </a:r>
            <a:endParaRPr lang="en-US" sz="950" dirty="0"/>
          </a:p>
        </p:txBody>
      </p:sp>
      <p:sp>
        <p:nvSpPr>
          <p:cNvPr id="11" name="Shape 7"/>
          <p:cNvSpPr/>
          <p:nvPr/>
        </p:nvSpPr>
        <p:spPr>
          <a:xfrm>
            <a:off x="6309360" y="2148840"/>
            <a:ext cx="2514600" cy="3291840"/>
          </a:xfrm>
          <a:prstGeom prst="rect">
            <a:avLst/>
          </a:prstGeom>
          <a:solidFill>
            <a:srgbClr val="FFFFFF"/>
          </a:solidFill>
          <a:ln w="9525">
            <a:solidFill>
              <a:srgbClr val="E4DDC8"/>
            </a:solidFill>
            <a:prstDash val="solid"/>
          </a:ln>
        </p:spPr>
      </p:sp>
      <p:pic>
        <p:nvPicPr>
          <p:cNvPr id="12" name="Image 2" descr="assets/logo_wordmark_transparent.png"/>
          <p:cNvPicPr>
            <a:picLocks noChangeAspect="1"/>
          </p:cNvPicPr>
          <p:nvPr/>
        </p:nvPicPr>
        <p:blipFill>
          <a:blip r:embed="rId4"/>
          <a:srcRect/>
          <a:stretch/>
        </p:blipFill>
        <p:spPr>
          <a:xfrm>
            <a:off x="6492240" y="3388766"/>
            <a:ext cx="2148840" cy="537667"/>
          </a:xfrm>
          <a:prstGeom prst="rect">
            <a:avLst/>
          </a:prstGeom>
        </p:spPr>
      </p:pic>
      <p:sp>
        <p:nvSpPr>
          <p:cNvPr id="13" name="Text 8"/>
          <p:cNvSpPr txBox="1"/>
          <p:nvPr/>
        </p:nvSpPr>
        <p:spPr>
          <a:xfrm>
            <a:off x="6309360" y="4983480"/>
            <a:ext cx="2514600" cy="320040"/>
          </a:xfrm>
          <a:prstGeom prst="rect">
            <a:avLst/>
          </a:prstGeom>
          <a:noFill/>
          <a:ln/>
        </p:spPr>
        <p:txBody>
          <a:bodyPr wrap="square" lIns="0" tIns="0" rIns="0" bIns="0" rtlCol="0" anchor="ctr"/>
          <a:lstStyle/>
          <a:p>
            <a:pPr marL="0" indent="0" algn="ctr">
              <a:buNone/>
            </a:pPr>
            <a:r>
              <a:rPr lang="en-US" sz="950" dirty="0">
                <a:solidFill>
                  <a:srgbClr val="6B6B6B"/>
                </a:solidFill>
                <a:latin typeface="Calibri" pitchFamily="34" charset="0"/>
                <a:ea typeface="Calibri" pitchFamily="34" charset="-122"/>
                <a:cs typeface="Calibri" pitchFamily="34" charset="-120"/>
              </a:rPr>
              <a:t>Wordmark — color</a:t>
            </a:r>
            <a:endParaRPr lang="en-US" sz="950" dirty="0"/>
          </a:p>
        </p:txBody>
      </p:sp>
      <p:sp>
        <p:nvSpPr>
          <p:cNvPr id="14" name="Shape 9"/>
          <p:cNvSpPr/>
          <p:nvPr/>
        </p:nvSpPr>
        <p:spPr>
          <a:xfrm>
            <a:off x="9144000" y="2148840"/>
            <a:ext cx="2514600" cy="3291840"/>
          </a:xfrm>
          <a:prstGeom prst="rect">
            <a:avLst/>
          </a:prstGeom>
          <a:solidFill>
            <a:srgbClr val="031B35"/>
          </a:solidFill>
          <a:ln w="9525">
            <a:solidFill>
              <a:srgbClr val="E4DDC8"/>
            </a:solidFill>
            <a:prstDash val="solid"/>
          </a:ln>
        </p:spPr>
      </p:sp>
      <p:pic>
        <p:nvPicPr>
          <p:cNvPr id="15" name="Image 3" descr="assets/logo_wordmark_reversed.png"/>
          <p:cNvPicPr>
            <a:picLocks noChangeAspect="1"/>
          </p:cNvPicPr>
          <p:nvPr/>
        </p:nvPicPr>
        <p:blipFill>
          <a:blip r:embed="rId5"/>
          <a:srcRect/>
          <a:stretch/>
        </p:blipFill>
        <p:spPr>
          <a:xfrm>
            <a:off x="9326880" y="3388766"/>
            <a:ext cx="2148840" cy="537667"/>
          </a:xfrm>
          <a:prstGeom prst="rect">
            <a:avLst/>
          </a:prstGeom>
        </p:spPr>
      </p:pic>
      <p:sp>
        <p:nvSpPr>
          <p:cNvPr id="16" name="Text 10"/>
          <p:cNvSpPr txBox="1"/>
          <p:nvPr/>
        </p:nvSpPr>
        <p:spPr>
          <a:xfrm>
            <a:off x="9144000" y="4983480"/>
            <a:ext cx="2514600" cy="320040"/>
          </a:xfrm>
          <a:prstGeom prst="rect">
            <a:avLst/>
          </a:prstGeom>
          <a:noFill/>
          <a:ln/>
        </p:spPr>
        <p:txBody>
          <a:bodyPr wrap="square" lIns="0" tIns="0" rIns="0" bIns="0" rtlCol="0" anchor="ctr"/>
          <a:lstStyle/>
          <a:p>
            <a:pPr marL="0" indent="0" algn="ctr">
              <a:buNone/>
            </a:pPr>
            <a:r>
              <a:rPr lang="en-US" sz="950" dirty="0">
                <a:solidFill>
                  <a:srgbClr val="C9D2DC"/>
                </a:solidFill>
                <a:latin typeface="Calibri" pitchFamily="34" charset="0"/>
                <a:ea typeface="Calibri" pitchFamily="34" charset="-122"/>
                <a:cs typeface="Calibri" pitchFamily="34" charset="-120"/>
              </a:rPr>
              <a:t>Wordmark — on navy</a:t>
            </a:r>
            <a:endParaRPr lang="en-US" sz="950" dirty="0"/>
          </a:p>
        </p:txBody>
      </p:sp>
      <p:sp>
        <p:nvSpPr>
          <p:cNvPr id="17" name="Text 11"/>
          <p:cNvSpPr txBox="1"/>
          <p:nvPr/>
        </p:nvSpPr>
        <p:spPr>
          <a:xfrm>
            <a:off x="11548872" y="6446520"/>
            <a:ext cx="365760" cy="274320"/>
          </a:xfrm>
          <a:prstGeom prst="rect">
            <a:avLst/>
          </a:prstGeom>
          <a:noFill/>
          <a:ln/>
        </p:spPr>
        <p:txBody>
          <a:bodyPr wrap="square" lIns="0" tIns="0" rIns="0" bIns="0"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40080" y="502920"/>
            <a:ext cx="7315200" cy="320040"/>
          </a:xfrm>
          <a:prstGeom prst="rect">
            <a:avLst/>
          </a:prstGeom>
          <a:noFill/>
          <a:ln/>
        </p:spPr>
        <p:txBody>
          <a:bodyPr wrap="square" lIns="0" tIns="0" rIns="0" bIns="0" rtlCol="0" anchor="ctr"/>
          <a:lstStyle/>
          <a:p>
            <a:pPr marL="0" indent="0">
              <a:buNone/>
            </a:pPr>
            <a:r>
              <a:rPr lang="en-US" sz="1200" b="1" kern="0" spc="300" dirty="0">
                <a:solidFill>
                  <a:srgbClr val="A8863A"/>
                </a:solidFill>
                <a:latin typeface="Calibri" pitchFamily="34" charset="0"/>
                <a:ea typeface="Calibri" pitchFamily="34" charset="-122"/>
                <a:cs typeface="Calibri" pitchFamily="34" charset="-120"/>
              </a:rPr>
              <a:t>LOGO SYSTEM</a:t>
            </a:r>
            <a:endParaRPr lang="en-US" sz="1200" dirty="0"/>
          </a:p>
        </p:txBody>
      </p:sp>
      <p:sp>
        <p:nvSpPr>
          <p:cNvPr id="3" name="Text 1"/>
          <p:cNvSpPr txBox="1"/>
          <p:nvPr/>
        </p:nvSpPr>
        <p:spPr>
          <a:xfrm>
            <a:off x="640080" y="868680"/>
            <a:ext cx="9601200" cy="640080"/>
          </a:xfrm>
          <a:prstGeom prst="rect">
            <a:avLst/>
          </a:prstGeom>
          <a:noFill/>
          <a:ln/>
        </p:spPr>
        <p:txBody>
          <a:bodyPr wrap="square" lIns="0" tIns="0" rIns="0" bIns="0" rtlCol="0" anchor="ctr"/>
          <a:lstStyle/>
          <a:p>
            <a:pPr marL="0" indent="0">
              <a:buNone/>
            </a:pPr>
            <a:r>
              <a:rPr lang="en-US" sz="3000" b="1" dirty="0">
                <a:solidFill>
                  <a:srgbClr val="031B35"/>
                </a:solidFill>
                <a:latin typeface="Cambria" pitchFamily="34" charset="0"/>
                <a:ea typeface="Cambria" pitchFamily="34" charset="-122"/>
                <a:cs typeface="Cambria" pitchFamily="34" charset="-120"/>
              </a:rPr>
              <a:t>Clear space &amp; minimum size</a:t>
            </a:r>
            <a:endParaRPr lang="en-US" sz="3000" dirty="0"/>
          </a:p>
        </p:txBody>
      </p:sp>
      <p:sp>
        <p:nvSpPr>
          <p:cNvPr id="4" name="Shape 2"/>
          <p:cNvSpPr/>
          <p:nvPr/>
        </p:nvSpPr>
        <p:spPr>
          <a:xfrm>
            <a:off x="640080" y="1965960"/>
            <a:ext cx="5349240" cy="3794760"/>
          </a:xfrm>
          <a:prstGeom prst="rect">
            <a:avLst/>
          </a:prstGeom>
          <a:solidFill>
            <a:srgbClr val="FFFFFF"/>
          </a:solidFill>
          <a:ln w="9525">
            <a:solidFill>
              <a:srgbClr val="E4DDC8"/>
            </a:solidFill>
            <a:prstDash val="solid"/>
          </a:ln>
        </p:spPr>
      </p:sp>
      <p:pic>
        <p:nvPicPr>
          <p:cNvPr id="5" name="Image 0" descr="assets/logo_icon_transparent.png"/>
          <p:cNvPicPr>
            <a:picLocks noChangeAspect="1"/>
          </p:cNvPicPr>
          <p:nvPr/>
        </p:nvPicPr>
        <p:blipFill>
          <a:blip r:embed="rId3"/>
          <a:srcRect/>
          <a:stretch/>
        </p:blipFill>
        <p:spPr>
          <a:xfrm>
            <a:off x="2423160" y="2880360"/>
            <a:ext cx="1783080" cy="1975104"/>
          </a:xfrm>
          <a:prstGeom prst="rect">
            <a:avLst/>
          </a:prstGeom>
        </p:spPr>
      </p:pic>
      <p:sp>
        <p:nvSpPr>
          <p:cNvPr id="6" name="Shape 3"/>
          <p:cNvSpPr/>
          <p:nvPr/>
        </p:nvSpPr>
        <p:spPr>
          <a:xfrm>
            <a:off x="2057400" y="2514600"/>
            <a:ext cx="2514600" cy="2706624"/>
          </a:xfrm>
          <a:prstGeom prst="rect">
            <a:avLst/>
          </a:prstGeom>
          <a:solidFill>
            <a:srgbClr val="FFFFFF">
              <a:alpha val="0"/>
            </a:srgbClr>
          </a:solidFill>
          <a:ln w="12700">
            <a:solidFill>
              <a:srgbClr val="C8A74C"/>
            </a:solidFill>
            <a:prstDash val="dash"/>
          </a:ln>
        </p:spPr>
      </p:sp>
      <p:sp>
        <p:nvSpPr>
          <p:cNvPr id="7" name="Text 4"/>
          <p:cNvSpPr txBox="1"/>
          <p:nvPr/>
        </p:nvSpPr>
        <p:spPr>
          <a:xfrm>
            <a:off x="2057400" y="2148840"/>
            <a:ext cx="2514600" cy="320040"/>
          </a:xfrm>
          <a:prstGeom prst="rect">
            <a:avLst/>
          </a:prstGeom>
          <a:noFill/>
          <a:ln/>
        </p:spPr>
        <p:txBody>
          <a:bodyPr wrap="square" lIns="0" tIns="0" rIns="0" bIns="0" rtlCol="0" anchor="ctr"/>
          <a:lstStyle/>
          <a:p>
            <a:pPr marL="0" indent="0" algn="ctr">
              <a:buNone/>
            </a:pPr>
            <a:r>
              <a:rPr lang="en-US" sz="1300" i="1" dirty="0">
                <a:solidFill>
                  <a:srgbClr val="A8863A"/>
                </a:solidFill>
                <a:latin typeface="Cambria" pitchFamily="34" charset="0"/>
                <a:ea typeface="Cambria" pitchFamily="34" charset="-122"/>
                <a:cs typeface="Cambria" pitchFamily="34" charset="-120"/>
              </a:rPr>
              <a:t>X</a:t>
            </a:r>
            <a:endParaRPr lang="en-US" sz="1300" dirty="0"/>
          </a:p>
        </p:txBody>
      </p:sp>
      <p:sp>
        <p:nvSpPr>
          <p:cNvPr id="8" name="Text 5"/>
          <p:cNvSpPr txBox="1"/>
          <p:nvPr/>
        </p:nvSpPr>
        <p:spPr>
          <a:xfrm>
            <a:off x="868680" y="5166360"/>
            <a:ext cx="4892040" cy="548640"/>
          </a:xfrm>
          <a:prstGeom prst="rect">
            <a:avLst/>
          </a:prstGeom>
          <a:noFill/>
          <a:ln/>
        </p:spPr>
        <p:txBody>
          <a:bodyPr wrap="square" lIns="0" tIns="0" rIns="0" bIns="0" rtlCol="0" anchor="ctr"/>
          <a:lstStyle/>
          <a:p>
            <a:pPr marL="0" indent="0">
              <a:lnSpc>
                <a:spcPct val="120000"/>
              </a:lnSpc>
              <a:buNone/>
            </a:pPr>
            <a:r>
              <a:rPr lang="en-US" sz="1050" dirty="0">
                <a:solidFill>
                  <a:srgbClr val="6B6B6B"/>
                </a:solidFill>
                <a:latin typeface="Calibri" pitchFamily="34" charset="0"/>
                <a:ea typeface="Calibri" pitchFamily="34" charset="-122"/>
                <a:cs typeface="Calibri" pitchFamily="34" charset="-120"/>
              </a:rPr>
              <a:t>Clear space — keep an area equal to the height of the emblem’s star (“X”) free of text, images and edges on all sides of the lockup.</a:t>
            </a:r>
            <a:endParaRPr lang="en-US" sz="1050" dirty="0"/>
          </a:p>
        </p:txBody>
      </p:sp>
      <p:sp>
        <p:nvSpPr>
          <p:cNvPr id="9" name="Shape 6"/>
          <p:cNvSpPr/>
          <p:nvPr/>
        </p:nvSpPr>
        <p:spPr>
          <a:xfrm>
            <a:off x="6263640" y="1965960"/>
            <a:ext cx="5257800" cy="3794760"/>
          </a:xfrm>
          <a:prstGeom prst="rect">
            <a:avLst/>
          </a:prstGeom>
          <a:solidFill>
            <a:srgbClr val="FFFFFF"/>
          </a:solidFill>
          <a:ln w="9525">
            <a:solidFill>
              <a:srgbClr val="E4DDC8"/>
            </a:solidFill>
            <a:prstDash val="solid"/>
          </a:ln>
        </p:spPr>
      </p:sp>
      <p:sp>
        <p:nvSpPr>
          <p:cNvPr id="10" name="Text 7"/>
          <p:cNvSpPr txBox="1"/>
          <p:nvPr/>
        </p:nvSpPr>
        <p:spPr>
          <a:xfrm>
            <a:off x="6537960" y="2194560"/>
            <a:ext cx="4709160" cy="365760"/>
          </a:xfrm>
          <a:prstGeom prst="rect">
            <a:avLst/>
          </a:prstGeom>
          <a:noFill/>
          <a:ln/>
        </p:spPr>
        <p:txBody>
          <a:bodyPr wrap="square" lIns="0" tIns="0" rIns="0" bIns="0" rtlCol="0" anchor="ctr"/>
          <a:lstStyle/>
          <a:p>
            <a:pPr marL="0" indent="0">
              <a:buNone/>
            </a:pPr>
            <a:r>
              <a:rPr lang="en-US" sz="1500" b="1" dirty="0">
                <a:solidFill>
                  <a:srgbClr val="031B35"/>
                </a:solidFill>
                <a:latin typeface="Cambria" pitchFamily="34" charset="0"/>
                <a:ea typeface="Cambria" pitchFamily="34" charset="-122"/>
                <a:cs typeface="Cambria" pitchFamily="34" charset="-120"/>
              </a:rPr>
              <a:t>Minimum size</a:t>
            </a:r>
            <a:endParaRPr lang="en-US" sz="1500" dirty="0"/>
          </a:p>
        </p:txBody>
      </p:sp>
      <p:pic>
        <p:nvPicPr>
          <p:cNvPr id="11" name="Image 1" descr="assets/logo_icon_transparent.png"/>
          <p:cNvPicPr>
            <a:picLocks noChangeAspect="1"/>
          </p:cNvPicPr>
          <p:nvPr/>
        </p:nvPicPr>
        <p:blipFill>
          <a:blip r:embed="rId3"/>
          <a:srcRect/>
          <a:stretch/>
        </p:blipFill>
        <p:spPr>
          <a:xfrm>
            <a:off x="6976872" y="3072384"/>
            <a:ext cx="274320" cy="301752"/>
          </a:xfrm>
          <a:prstGeom prst="rect">
            <a:avLst/>
          </a:prstGeom>
        </p:spPr>
      </p:pic>
      <p:sp>
        <p:nvSpPr>
          <p:cNvPr id="12" name="Text 8"/>
          <p:cNvSpPr txBox="1"/>
          <p:nvPr/>
        </p:nvSpPr>
        <p:spPr>
          <a:xfrm>
            <a:off x="7543800" y="3063240"/>
            <a:ext cx="3703320" cy="365760"/>
          </a:xfrm>
          <a:prstGeom prst="rect">
            <a:avLst/>
          </a:prstGeom>
          <a:noFill/>
          <a:ln/>
        </p:spPr>
        <p:txBody>
          <a:bodyPr wrap="square" lIns="0" tIns="0" rIns="0" bIns="0" rtlCol="0" anchor="ctr"/>
          <a:lstStyle/>
          <a:p>
            <a:pPr marL="0" indent="0">
              <a:buNone/>
            </a:pPr>
            <a:r>
              <a:rPr lang="en-US" sz="1100" dirty="0">
                <a:solidFill>
                  <a:srgbClr val="2B2B2B"/>
                </a:solidFill>
                <a:latin typeface="Calibri" pitchFamily="34" charset="0"/>
                <a:ea typeface="Calibri" pitchFamily="34" charset="-122"/>
                <a:cs typeface="Calibri" pitchFamily="34" charset="-120"/>
              </a:rPr>
              <a:t>0.3" / 8mm digital emblem minimum</a:t>
            </a:r>
            <a:endParaRPr lang="en-US" sz="1100" dirty="0"/>
          </a:p>
        </p:txBody>
      </p:sp>
      <p:pic>
        <p:nvPicPr>
          <p:cNvPr id="13" name="Image 2" descr="assets/logo_icon_transparent.png"/>
          <p:cNvPicPr>
            <a:picLocks noChangeAspect="1"/>
          </p:cNvPicPr>
          <p:nvPr/>
        </p:nvPicPr>
        <p:blipFill>
          <a:blip r:embed="rId3"/>
          <a:srcRect/>
          <a:stretch/>
        </p:blipFill>
        <p:spPr>
          <a:xfrm>
            <a:off x="6858000" y="3657600"/>
            <a:ext cx="502920" cy="557784"/>
          </a:xfrm>
          <a:prstGeom prst="rect">
            <a:avLst/>
          </a:prstGeom>
        </p:spPr>
      </p:pic>
      <p:sp>
        <p:nvSpPr>
          <p:cNvPr id="14" name="Text 9"/>
          <p:cNvSpPr txBox="1"/>
          <p:nvPr/>
        </p:nvSpPr>
        <p:spPr>
          <a:xfrm>
            <a:off x="7543800" y="3794760"/>
            <a:ext cx="3703320" cy="365760"/>
          </a:xfrm>
          <a:prstGeom prst="rect">
            <a:avLst/>
          </a:prstGeom>
          <a:noFill/>
          <a:ln/>
        </p:spPr>
        <p:txBody>
          <a:bodyPr wrap="square" lIns="0" tIns="0" rIns="0" bIns="0" rtlCol="0" anchor="ctr"/>
          <a:lstStyle/>
          <a:p>
            <a:pPr marL="0" indent="0">
              <a:buNone/>
            </a:pPr>
            <a:r>
              <a:rPr lang="en-US" sz="1100" dirty="0">
                <a:solidFill>
                  <a:srgbClr val="2B2B2B"/>
                </a:solidFill>
                <a:latin typeface="Calibri" pitchFamily="34" charset="0"/>
                <a:ea typeface="Calibri" pitchFamily="34" charset="-122"/>
                <a:cs typeface="Calibri" pitchFamily="34" charset="-120"/>
              </a:rPr>
              <a:t>0.5" / 13mm print emblem minimum</a:t>
            </a:r>
            <a:endParaRPr lang="en-US" sz="1100" dirty="0"/>
          </a:p>
        </p:txBody>
      </p:sp>
      <p:pic>
        <p:nvPicPr>
          <p:cNvPr id="15" name="Image 3" descr="assets/logo_wordmark_transparent.png"/>
          <p:cNvPicPr>
            <a:picLocks noChangeAspect="1"/>
          </p:cNvPicPr>
          <p:nvPr/>
        </p:nvPicPr>
        <p:blipFill>
          <a:blip r:embed="rId4"/>
          <a:srcRect/>
          <a:stretch/>
        </p:blipFill>
        <p:spPr>
          <a:xfrm>
            <a:off x="6903720" y="4572000"/>
            <a:ext cx="2194560" cy="548640"/>
          </a:xfrm>
          <a:prstGeom prst="rect">
            <a:avLst/>
          </a:prstGeom>
        </p:spPr>
      </p:pic>
      <p:sp>
        <p:nvSpPr>
          <p:cNvPr id="16" name="Text 10"/>
          <p:cNvSpPr txBox="1"/>
          <p:nvPr/>
        </p:nvSpPr>
        <p:spPr>
          <a:xfrm>
            <a:off x="6903720" y="5138928"/>
            <a:ext cx="4297680" cy="320040"/>
          </a:xfrm>
          <a:prstGeom prst="rect">
            <a:avLst/>
          </a:prstGeom>
          <a:noFill/>
          <a:ln/>
        </p:spPr>
        <p:txBody>
          <a:bodyPr wrap="square" lIns="0" tIns="0" rIns="0" bIns="0" rtlCol="0" anchor="ctr"/>
          <a:lstStyle/>
          <a:p>
            <a:pPr marL="0" indent="0">
              <a:buNone/>
            </a:pPr>
            <a:r>
              <a:rPr lang="en-US" sz="1100" dirty="0">
                <a:solidFill>
                  <a:srgbClr val="2B2B2B"/>
                </a:solidFill>
                <a:latin typeface="Calibri" pitchFamily="34" charset="0"/>
                <a:ea typeface="Calibri" pitchFamily="34" charset="-122"/>
                <a:cs typeface="Calibri" pitchFamily="34" charset="-120"/>
              </a:rPr>
              <a:t>1.6" minimum width, full lockup</a:t>
            </a:r>
            <a:endParaRPr lang="en-US" sz="1100" dirty="0"/>
          </a:p>
        </p:txBody>
      </p:sp>
      <p:sp>
        <p:nvSpPr>
          <p:cNvPr id="17" name="Text 11"/>
          <p:cNvSpPr txBox="1"/>
          <p:nvPr/>
        </p:nvSpPr>
        <p:spPr>
          <a:xfrm>
            <a:off x="11548872" y="6446520"/>
            <a:ext cx="365760" cy="274320"/>
          </a:xfrm>
          <a:prstGeom prst="rect">
            <a:avLst/>
          </a:prstGeom>
          <a:noFill/>
          <a:ln/>
        </p:spPr>
        <p:txBody>
          <a:bodyPr wrap="square" lIns="0" tIns="0" rIns="0" bIns="0"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40080" y="502920"/>
            <a:ext cx="7315200" cy="320040"/>
          </a:xfrm>
          <a:prstGeom prst="rect">
            <a:avLst/>
          </a:prstGeom>
          <a:noFill/>
          <a:ln/>
        </p:spPr>
        <p:txBody>
          <a:bodyPr wrap="square" lIns="0" tIns="0" rIns="0" bIns="0" rtlCol="0" anchor="ctr"/>
          <a:lstStyle/>
          <a:p>
            <a:pPr marL="0" indent="0">
              <a:buNone/>
            </a:pPr>
            <a:r>
              <a:rPr lang="en-US" sz="1200" b="1" kern="0" spc="300" dirty="0">
                <a:solidFill>
                  <a:srgbClr val="A8863A"/>
                </a:solidFill>
                <a:latin typeface="Calibri" pitchFamily="34" charset="0"/>
                <a:ea typeface="Calibri" pitchFamily="34" charset="-122"/>
                <a:cs typeface="Calibri" pitchFamily="34" charset="-120"/>
              </a:rPr>
              <a:t>LOGO SYSTEM</a:t>
            </a:r>
            <a:endParaRPr lang="en-US" sz="1200" dirty="0"/>
          </a:p>
        </p:txBody>
      </p:sp>
      <p:sp>
        <p:nvSpPr>
          <p:cNvPr id="3" name="Text 1"/>
          <p:cNvSpPr txBox="1"/>
          <p:nvPr/>
        </p:nvSpPr>
        <p:spPr>
          <a:xfrm>
            <a:off x="640080" y="868680"/>
            <a:ext cx="9144000" cy="640080"/>
          </a:xfrm>
          <a:prstGeom prst="rect">
            <a:avLst/>
          </a:prstGeom>
          <a:noFill/>
          <a:ln/>
        </p:spPr>
        <p:txBody>
          <a:bodyPr wrap="square" lIns="0" tIns="0" rIns="0" bIns="0" rtlCol="0" anchor="ctr"/>
          <a:lstStyle/>
          <a:p>
            <a:pPr marL="0" indent="0">
              <a:buNone/>
            </a:pPr>
            <a:r>
              <a:rPr lang="en-US" sz="3200" b="1" dirty="0">
                <a:solidFill>
                  <a:srgbClr val="031B35"/>
                </a:solidFill>
                <a:latin typeface="Cambria" pitchFamily="34" charset="0"/>
                <a:ea typeface="Cambria" pitchFamily="34" charset="-122"/>
                <a:cs typeface="Cambria" pitchFamily="34" charset="-120"/>
              </a:rPr>
              <a:t>Logo misuse</a:t>
            </a:r>
            <a:endParaRPr lang="en-US" sz="3200" dirty="0"/>
          </a:p>
        </p:txBody>
      </p:sp>
      <p:sp>
        <p:nvSpPr>
          <p:cNvPr id="4" name="Text 2"/>
          <p:cNvSpPr txBox="1"/>
          <p:nvPr/>
        </p:nvSpPr>
        <p:spPr>
          <a:xfrm>
            <a:off x="640080" y="1508760"/>
            <a:ext cx="10424160" cy="457200"/>
          </a:xfrm>
          <a:prstGeom prst="rect">
            <a:avLst/>
          </a:prstGeom>
          <a:noFill/>
          <a:ln/>
        </p:spPr>
        <p:txBody>
          <a:bodyPr wrap="square" lIns="0" tIns="0" rIns="0" bIns="0" rtlCol="0" anchor="ctr"/>
          <a:lstStyle/>
          <a:p>
            <a:pPr marL="0" indent="0">
              <a:buNone/>
            </a:pPr>
            <a:r>
              <a:rPr lang="en-US" sz="1200" dirty="0">
                <a:solidFill>
                  <a:srgbClr val="6B6B6B"/>
                </a:solidFill>
                <a:latin typeface="Calibri" pitchFamily="34" charset="0"/>
                <a:ea typeface="Calibri" pitchFamily="34" charset="-122"/>
                <a:cs typeface="Calibri" pitchFamily="34" charset="-120"/>
              </a:rPr>
              <a:t>The emblem and wordmark are drawn precisely. Please don’t redraw, recolor or distort them.</a:t>
            </a:r>
            <a:endParaRPr lang="en-US" sz="1200" dirty="0"/>
          </a:p>
        </p:txBody>
      </p:sp>
      <p:sp>
        <p:nvSpPr>
          <p:cNvPr id="5" name="Shape 3"/>
          <p:cNvSpPr/>
          <p:nvPr/>
        </p:nvSpPr>
        <p:spPr>
          <a:xfrm>
            <a:off x="640080" y="2148840"/>
            <a:ext cx="2514600" cy="2834640"/>
          </a:xfrm>
          <a:prstGeom prst="rect">
            <a:avLst/>
          </a:prstGeom>
          <a:solidFill>
            <a:srgbClr val="FFFFFF"/>
          </a:solidFill>
          <a:ln w="9525">
            <a:solidFill>
              <a:srgbClr val="E4DDC8"/>
            </a:solidFill>
            <a:prstDash val="solid"/>
          </a:ln>
        </p:spPr>
      </p:sp>
      <p:pic>
        <p:nvPicPr>
          <p:cNvPr id="6" name="Image 0" descr="assets/logo_icon_transparent.png"/>
          <p:cNvPicPr>
            <a:picLocks noChangeAspect="1"/>
          </p:cNvPicPr>
          <p:nvPr/>
        </p:nvPicPr>
        <p:blipFill>
          <a:blip r:embed="rId3"/>
          <a:srcRect/>
          <a:stretch/>
        </p:blipFill>
        <p:spPr>
          <a:xfrm>
            <a:off x="1440180" y="2468880"/>
            <a:ext cx="914400" cy="1517904"/>
          </a:xfrm>
          <a:prstGeom prst="rect">
            <a:avLst/>
          </a:prstGeom>
        </p:spPr>
      </p:pic>
      <p:sp>
        <p:nvSpPr>
          <p:cNvPr id="7" name="Shape 4"/>
          <p:cNvSpPr/>
          <p:nvPr/>
        </p:nvSpPr>
        <p:spPr>
          <a:xfrm>
            <a:off x="822960" y="2377440"/>
            <a:ext cx="2148840" cy="2286000"/>
          </a:xfrm>
          <a:prstGeom prst="line">
            <a:avLst/>
          </a:prstGeom>
          <a:noFill/>
          <a:ln w="25400">
            <a:solidFill>
              <a:srgbClr val="B23A2E"/>
            </a:solidFill>
            <a:prstDash val="solid"/>
          </a:ln>
        </p:spPr>
      </p:sp>
      <p:sp>
        <p:nvSpPr>
          <p:cNvPr id="8" name="Text 5"/>
          <p:cNvSpPr txBox="1"/>
          <p:nvPr/>
        </p:nvSpPr>
        <p:spPr>
          <a:xfrm>
            <a:off x="640080" y="5093208"/>
            <a:ext cx="2514600" cy="502920"/>
          </a:xfrm>
          <a:prstGeom prst="rect">
            <a:avLst/>
          </a:prstGeom>
          <a:noFill/>
          <a:ln/>
        </p:spPr>
        <p:txBody>
          <a:bodyPr wrap="square" lIns="0" tIns="0" rIns="0" bIns="0" rtlCol="0" anchor="ctr"/>
          <a:lstStyle/>
          <a:p>
            <a:pPr marL="0" indent="0" algn="ctr">
              <a:lnSpc>
                <a:spcPct val="115000"/>
              </a:lnSpc>
              <a:buNone/>
            </a:pPr>
            <a:r>
              <a:rPr lang="en-US" sz="1050" dirty="0">
                <a:solidFill>
                  <a:srgbClr val="2B2B2B"/>
                </a:solidFill>
                <a:latin typeface="Calibri" pitchFamily="34" charset="0"/>
                <a:ea typeface="Calibri" pitchFamily="34" charset="-122"/>
                <a:cs typeface="Calibri" pitchFamily="34" charset="-120"/>
              </a:rPr>
              <a:t>Don’t stretch or distort</a:t>
            </a:r>
            <a:endParaRPr lang="en-US" sz="1050" dirty="0"/>
          </a:p>
        </p:txBody>
      </p:sp>
      <p:sp>
        <p:nvSpPr>
          <p:cNvPr id="9" name="Shape 6"/>
          <p:cNvSpPr/>
          <p:nvPr/>
        </p:nvSpPr>
        <p:spPr>
          <a:xfrm>
            <a:off x="3474720" y="2148840"/>
            <a:ext cx="2514600" cy="2834640"/>
          </a:xfrm>
          <a:prstGeom prst="rect">
            <a:avLst/>
          </a:prstGeom>
          <a:solidFill>
            <a:srgbClr val="FFFFFF"/>
          </a:solidFill>
          <a:ln w="9525">
            <a:solidFill>
              <a:srgbClr val="E4DDC8"/>
            </a:solidFill>
            <a:prstDash val="solid"/>
          </a:ln>
        </p:spPr>
      </p:sp>
      <p:pic>
        <p:nvPicPr>
          <p:cNvPr id="10" name="Image 1" descr="assets/logo_icon_transparent.png"/>
          <p:cNvPicPr>
            <a:picLocks noChangeAspect="1"/>
          </p:cNvPicPr>
          <p:nvPr/>
        </p:nvPicPr>
        <p:blipFill>
          <a:blip r:embed="rId3"/>
          <a:srcRect/>
          <a:stretch/>
        </p:blipFill>
        <p:spPr>
          <a:xfrm>
            <a:off x="4114800" y="2468880"/>
            <a:ext cx="1234440" cy="1371600"/>
          </a:xfrm>
          <a:prstGeom prst="rect">
            <a:avLst/>
          </a:prstGeom>
        </p:spPr>
      </p:pic>
      <p:sp>
        <p:nvSpPr>
          <p:cNvPr id="11" name="Shape 7"/>
          <p:cNvSpPr/>
          <p:nvPr/>
        </p:nvSpPr>
        <p:spPr>
          <a:xfrm>
            <a:off x="4114800" y="2468880"/>
            <a:ext cx="1234440" cy="1371600"/>
          </a:xfrm>
          <a:prstGeom prst="ellipse">
            <a:avLst/>
          </a:prstGeom>
          <a:solidFill>
            <a:srgbClr val="8A2E2E">
              <a:alpha val="65000"/>
            </a:srgbClr>
          </a:solidFill>
          <a:ln/>
        </p:spPr>
      </p:sp>
      <p:sp>
        <p:nvSpPr>
          <p:cNvPr id="12" name="Shape 8"/>
          <p:cNvSpPr/>
          <p:nvPr/>
        </p:nvSpPr>
        <p:spPr>
          <a:xfrm>
            <a:off x="3657600" y="2377440"/>
            <a:ext cx="2148840" cy="2286000"/>
          </a:xfrm>
          <a:prstGeom prst="line">
            <a:avLst/>
          </a:prstGeom>
          <a:noFill/>
          <a:ln w="25400">
            <a:solidFill>
              <a:srgbClr val="B23A2E"/>
            </a:solidFill>
            <a:prstDash val="solid"/>
          </a:ln>
        </p:spPr>
      </p:sp>
      <p:sp>
        <p:nvSpPr>
          <p:cNvPr id="13" name="Text 9"/>
          <p:cNvSpPr txBox="1"/>
          <p:nvPr/>
        </p:nvSpPr>
        <p:spPr>
          <a:xfrm>
            <a:off x="3474720" y="5093208"/>
            <a:ext cx="2514600" cy="502920"/>
          </a:xfrm>
          <a:prstGeom prst="rect">
            <a:avLst/>
          </a:prstGeom>
          <a:noFill/>
          <a:ln/>
        </p:spPr>
        <p:txBody>
          <a:bodyPr wrap="square" lIns="0" tIns="0" rIns="0" bIns="0" rtlCol="0" anchor="ctr"/>
          <a:lstStyle/>
          <a:p>
            <a:pPr marL="0" indent="0" algn="ctr">
              <a:lnSpc>
                <a:spcPct val="115000"/>
              </a:lnSpc>
              <a:buNone/>
            </a:pPr>
            <a:r>
              <a:rPr lang="en-US" sz="1050" dirty="0">
                <a:solidFill>
                  <a:srgbClr val="2B2B2B"/>
                </a:solidFill>
                <a:latin typeface="Calibri" pitchFamily="34" charset="0"/>
                <a:ea typeface="Calibri" pitchFamily="34" charset="-122"/>
                <a:cs typeface="Calibri" pitchFamily="34" charset="-120"/>
              </a:rPr>
              <a:t>Don’t recolor the emblem</a:t>
            </a:r>
            <a:endParaRPr lang="en-US" sz="1050" dirty="0"/>
          </a:p>
        </p:txBody>
      </p:sp>
      <p:sp>
        <p:nvSpPr>
          <p:cNvPr id="14" name="Shape 10"/>
          <p:cNvSpPr/>
          <p:nvPr/>
        </p:nvSpPr>
        <p:spPr>
          <a:xfrm>
            <a:off x="6309360" y="2148840"/>
            <a:ext cx="2514600" cy="2834640"/>
          </a:xfrm>
          <a:prstGeom prst="rect">
            <a:avLst/>
          </a:prstGeom>
          <a:solidFill>
            <a:srgbClr val="FFFFFF"/>
          </a:solidFill>
          <a:ln w="9525">
            <a:solidFill>
              <a:srgbClr val="E4DDC8"/>
            </a:solidFill>
            <a:prstDash val="solid"/>
          </a:ln>
        </p:spPr>
      </p:sp>
      <p:pic>
        <p:nvPicPr>
          <p:cNvPr id="15" name="Image 2" descr="assets/logo_icon_transparent.png"/>
          <p:cNvPicPr>
            <a:picLocks noChangeAspect="1"/>
          </p:cNvPicPr>
          <p:nvPr/>
        </p:nvPicPr>
        <p:blipFill>
          <a:blip r:embed="rId3"/>
          <a:srcRect/>
          <a:stretch/>
        </p:blipFill>
        <p:spPr>
          <a:xfrm>
            <a:off x="6949440" y="2468880"/>
            <a:ext cx="1234440" cy="1371600"/>
          </a:xfrm>
          <a:prstGeom prst="rect">
            <a:avLst/>
          </a:prstGeom>
        </p:spPr>
      </p:pic>
      <p:sp>
        <p:nvSpPr>
          <p:cNvPr id="16" name="Shape 11"/>
          <p:cNvSpPr/>
          <p:nvPr/>
        </p:nvSpPr>
        <p:spPr>
          <a:xfrm>
            <a:off x="6492240" y="2377440"/>
            <a:ext cx="2148840" cy="2286000"/>
          </a:xfrm>
          <a:prstGeom prst="line">
            <a:avLst/>
          </a:prstGeom>
          <a:noFill/>
          <a:ln w="25400">
            <a:solidFill>
              <a:srgbClr val="B23A2E"/>
            </a:solidFill>
            <a:prstDash val="solid"/>
          </a:ln>
        </p:spPr>
      </p:sp>
      <p:sp>
        <p:nvSpPr>
          <p:cNvPr id="17" name="Text 12"/>
          <p:cNvSpPr txBox="1"/>
          <p:nvPr/>
        </p:nvSpPr>
        <p:spPr>
          <a:xfrm>
            <a:off x="6309360" y="5093208"/>
            <a:ext cx="2514600" cy="502920"/>
          </a:xfrm>
          <a:prstGeom prst="rect">
            <a:avLst/>
          </a:prstGeom>
          <a:noFill/>
          <a:ln/>
        </p:spPr>
        <p:txBody>
          <a:bodyPr wrap="square" lIns="0" tIns="0" rIns="0" bIns="0" rtlCol="0" anchor="ctr"/>
          <a:lstStyle/>
          <a:p>
            <a:pPr marL="0" indent="0" algn="ctr">
              <a:lnSpc>
                <a:spcPct val="115000"/>
              </a:lnSpc>
              <a:buNone/>
            </a:pPr>
            <a:r>
              <a:rPr lang="en-US" sz="1050" dirty="0">
                <a:solidFill>
                  <a:srgbClr val="2B2B2B"/>
                </a:solidFill>
                <a:latin typeface="Calibri" pitchFamily="34" charset="0"/>
                <a:ea typeface="Calibri" pitchFamily="34" charset="-122"/>
                <a:cs typeface="Calibri" pitchFamily="34" charset="-120"/>
              </a:rPr>
              <a:t>Don’t add drop shadows / effects</a:t>
            </a:r>
            <a:endParaRPr lang="en-US" sz="1050" dirty="0"/>
          </a:p>
        </p:txBody>
      </p:sp>
      <p:sp>
        <p:nvSpPr>
          <p:cNvPr id="18" name="Shape 13"/>
          <p:cNvSpPr/>
          <p:nvPr/>
        </p:nvSpPr>
        <p:spPr>
          <a:xfrm>
            <a:off x="9144000" y="2148840"/>
            <a:ext cx="2514600" cy="2834640"/>
          </a:xfrm>
          <a:prstGeom prst="rect">
            <a:avLst/>
          </a:prstGeom>
          <a:solidFill>
            <a:srgbClr val="F7F4EA"/>
          </a:solidFill>
          <a:ln w="9525">
            <a:solidFill>
              <a:srgbClr val="E4DDC8"/>
            </a:solidFill>
            <a:prstDash val="solid"/>
          </a:ln>
        </p:spPr>
      </p:sp>
      <p:sp>
        <p:nvSpPr>
          <p:cNvPr id="19" name="Shape 14"/>
          <p:cNvSpPr/>
          <p:nvPr/>
        </p:nvSpPr>
        <p:spPr>
          <a:xfrm>
            <a:off x="9326880" y="2423160"/>
            <a:ext cx="1005840" cy="1005840"/>
          </a:xfrm>
          <a:prstGeom prst="ellipse">
            <a:avLst/>
          </a:prstGeom>
          <a:solidFill>
            <a:srgbClr val="D9CBA0"/>
          </a:solidFill>
          <a:ln/>
        </p:spPr>
      </p:sp>
      <p:sp>
        <p:nvSpPr>
          <p:cNvPr id="20" name="Shape 15"/>
          <p:cNvSpPr/>
          <p:nvPr/>
        </p:nvSpPr>
        <p:spPr>
          <a:xfrm>
            <a:off x="9784080" y="3886200"/>
            <a:ext cx="1005840" cy="1005840"/>
          </a:xfrm>
          <a:prstGeom prst="ellipse">
            <a:avLst/>
          </a:prstGeom>
          <a:solidFill>
            <a:srgbClr val="AEB8C2"/>
          </a:solidFill>
          <a:ln/>
        </p:spPr>
      </p:sp>
      <p:sp>
        <p:nvSpPr>
          <p:cNvPr id="21" name="Shape 16"/>
          <p:cNvSpPr/>
          <p:nvPr/>
        </p:nvSpPr>
        <p:spPr>
          <a:xfrm>
            <a:off x="10241280" y="2423160"/>
            <a:ext cx="1005840" cy="1005840"/>
          </a:xfrm>
          <a:prstGeom prst="ellipse">
            <a:avLst/>
          </a:prstGeom>
          <a:solidFill>
            <a:srgbClr val="D9CBA0"/>
          </a:solidFill>
          <a:ln/>
        </p:spPr>
      </p:sp>
      <p:sp>
        <p:nvSpPr>
          <p:cNvPr id="22" name="Shape 17"/>
          <p:cNvSpPr/>
          <p:nvPr/>
        </p:nvSpPr>
        <p:spPr>
          <a:xfrm>
            <a:off x="10698480" y="3886200"/>
            <a:ext cx="1005840" cy="1005840"/>
          </a:xfrm>
          <a:prstGeom prst="ellipse">
            <a:avLst/>
          </a:prstGeom>
          <a:solidFill>
            <a:srgbClr val="AEB8C2"/>
          </a:solidFill>
          <a:ln/>
        </p:spPr>
      </p:sp>
      <p:sp>
        <p:nvSpPr>
          <p:cNvPr id="23" name="Shape 18"/>
          <p:cNvSpPr/>
          <p:nvPr/>
        </p:nvSpPr>
        <p:spPr>
          <a:xfrm>
            <a:off x="11155680" y="2423160"/>
            <a:ext cx="1005840" cy="1005840"/>
          </a:xfrm>
          <a:prstGeom prst="ellipse">
            <a:avLst/>
          </a:prstGeom>
          <a:solidFill>
            <a:srgbClr val="D9CBA0"/>
          </a:solidFill>
          <a:ln/>
        </p:spPr>
      </p:sp>
      <p:pic>
        <p:nvPicPr>
          <p:cNvPr id="24" name="Image 3" descr="assets/logo_icon_transparent.png"/>
          <p:cNvPicPr>
            <a:picLocks noChangeAspect="1"/>
          </p:cNvPicPr>
          <p:nvPr/>
        </p:nvPicPr>
        <p:blipFill>
          <a:blip r:embed="rId3"/>
          <a:srcRect/>
          <a:stretch/>
        </p:blipFill>
        <p:spPr>
          <a:xfrm>
            <a:off x="9784080" y="2468880"/>
            <a:ext cx="1234440" cy="1371600"/>
          </a:xfrm>
          <a:prstGeom prst="rect">
            <a:avLst/>
          </a:prstGeom>
        </p:spPr>
      </p:pic>
      <p:sp>
        <p:nvSpPr>
          <p:cNvPr id="25" name="Shape 19"/>
          <p:cNvSpPr/>
          <p:nvPr/>
        </p:nvSpPr>
        <p:spPr>
          <a:xfrm>
            <a:off x="9326880" y="2377440"/>
            <a:ext cx="2148840" cy="2286000"/>
          </a:xfrm>
          <a:prstGeom prst="line">
            <a:avLst/>
          </a:prstGeom>
          <a:noFill/>
          <a:ln w="25400">
            <a:solidFill>
              <a:srgbClr val="B23A2E"/>
            </a:solidFill>
            <a:prstDash val="solid"/>
          </a:ln>
        </p:spPr>
      </p:sp>
      <p:sp>
        <p:nvSpPr>
          <p:cNvPr id="26" name="Text 20"/>
          <p:cNvSpPr txBox="1"/>
          <p:nvPr/>
        </p:nvSpPr>
        <p:spPr>
          <a:xfrm>
            <a:off x="9144000" y="5093208"/>
            <a:ext cx="2514600" cy="502920"/>
          </a:xfrm>
          <a:prstGeom prst="rect">
            <a:avLst/>
          </a:prstGeom>
          <a:noFill/>
          <a:ln/>
        </p:spPr>
        <p:txBody>
          <a:bodyPr wrap="square" lIns="0" tIns="0" rIns="0" bIns="0" rtlCol="0" anchor="ctr"/>
          <a:lstStyle/>
          <a:p>
            <a:pPr marL="0" indent="0" algn="ctr">
              <a:lnSpc>
                <a:spcPct val="115000"/>
              </a:lnSpc>
              <a:buNone/>
            </a:pPr>
            <a:r>
              <a:rPr lang="en-US" sz="1050" dirty="0">
                <a:solidFill>
                  <a:srgbClr val="2B2B2B"/>
                </a:solidFill>
                <a:latin typeface="Calibri" pitchFamily="34" charset="0"/>
                <a:ea typeface="Calibri" pitchFamily="34" charset="-122"/>
                <a:cs typeface="Calibri" pitchFamily="34" charset="-120"/>
              </a:rPr>
              <a:t>Don’t place on busy imagery</a:t>
            </a:r>
            <a:endParaRPr lang="en-US" sz="1050" dirty="0"/>
          </a:p>
        </p:txBody>
      </p:sp>
      <p:sp>
        <p:nvSpPr>
          <p:cNvPr id="27" name="Text 21"/>
          <p:cNvSpPr txBox="1"/>
          <p:nvPr/>
        </p:nvSpPr>
        <p:spPr>
          <a:xfrm>
            <a:off x="11548872" y="6446520"/>
            <a:ext cx="365760" cy="274320"/>
          </a:xfrm>
          <a:prstGeom prst="rect">
            <a:avLst/>
          </a:prstGeom>
          <a:noFill/>
          <a:ln/>
        </p:spPr>
        <p:txBody>
          <a:bodyPr wrap="square" lIns="0" tIns="0" rIns="0" bIns="0"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40080" y="502920"/>
            <a:ext cx="7315200" cy="320040"/>
          </a:xfrm>
          <a:prstGeom prst="rect">
            <a:avLst/>
          </a:prstGeom>
          <a:noFill/>
          <a:ln/>
        </p:spPr>
        <p:txBody>
          <a:bodyPr wrap="square" lIns="0" tIns="0" rIns="0" bIns="0" rtlCol="0" anchor="ctr"/>
          <a:lstStyle/>
          <a:p>
            <a:pPr marL="0" indent="0">
              <a:buNone/>
            </a:pPr>
            <a:r>
              <a:rPr lang="en-US" sz="1200" b="1" kern="0" spc="300" dirty="0">
                <a:solidFill>
                  <a:srgbClr val="A8863A"/>
                </a:solidFill>
                <a:latin typeface="Calibri" pitchFamily="34" charset="0"/>
                <a:ea typeface="Calibri" pitchFamily="34" charset="-122"/>
                <a:cs typeface="Calibri" pitchFamily="34" charset="-120"/>
              </a:rPr>
              <a:t>COLOR PALETTE</a:t>
            </a:r>
            <a:endParaRPr lang="en-US" sz="1200" dirty="0"/>
          </a:p>
        </p:txBody>
      </p:sp>
      <p:sp>
        <p:nvSpPr>
          <p:cNvPr id="3" name="Text 1"/>
          <p:cNvSpPr txBox="1"/>
          <p:nvPr/>
        </p:nvSpPr>
        <p:spPr>
          <a:xfrm>
            <a:off x="640080" y="868680"/>
            <a:ext cx="9144000" cy="640080"/>
          </a:xfrm>
          <a:prstGeom prst="rect">
            <a:avLst/>
          </a:prstGeom>
          <a:noFill/>
          <a:ln/>
        </p:spPr>
        <p:txBody>
          <a:bodyPr wrap="square" lIns="0" tIns="0" rIns="0" bIns="0" rtlCol="0" anchor="ctr"/>
          <a:lstStyle/>
          <a:p>
            <a:pPr marL="0" indent="0">
              <a:buNone/>
            </a:pPr>
            <a:r>
              <a:rPr lang="en-US" sz="3200" b="1" dirty="0">
                <a:solidFill>
                  <a:srgbClr val="031B35"/>
                </a:solidFill>
                <a:latin typeface="Cambria" pitchFamily="34" charset="0"/>
                <a:ea typeface="Cambria" pitchFamily="34" charset="-122"/>
                <a:cs typeface="Cambria" pitchFamily="34" charset="-120"/>
              </a:rPr>
              <a:t>Color palette</a:t>
            </a:r>
            <a:endParaRPr lang="en-US" sz="3200" dirty="0"/>
          </a:p>
        </p:txBody>
      </p:sp>
      <p:sp>
        <p:nvSpPr>
          <p:cNvPr id="4" name="Text 2"/>
          <p:cNvSpPr txBox="1"/>
          <p:nvPr/>
        </p:nvSpPr>
        <p:spPr>
          <a:xfrm>
            <a:off x="640080" y="1508760"/>
            <a:ext cx="10424160" cy="457200"/>
          </a:xfrm>
          <a:prstGeom prst="rect">
            <a:avLst/>
          </a:prstGeom>
          <a:noFill/>
          <a:ln/>
        </p:spPr>
        <p:txBody>
          <a:bodyPr wrap="square" lIns="0" tIns="0" rIns="0" bIns="0" rtlCol="0" anchor="ctr"/>
          <a:lstStyle/>
          <a:p>
            <a:pPr marL="0" indent="0">
              <a:buNone/>
            </a:pPr>
            <a:r>
              <a:rPr lang="en-US" sz="1200" dirty="0">
                <a:solidFill>
                  <a:srgbClr val="6B6B6B"/>
                </a:solidFill>
                <a:latin typeface="Calibri" pitchFamily="34" charset="0"/>
                <a:ea typeface="Calibri" pitchFamily="34" charset="-122"/>
                <a:cs typeface="Calibri" pitchFamily="34" charset="-120"/>
              </a:rPr>
              <a:t>Navy and gold carry the brand; cream and ivory give it room to breathe. Charcoal is used for body copy only.</a:t>
            </a:r>
            <a:endParaRPr lang="en-US" sz="1200" dirty="0"/>
          </a:p>
        </p:txBody>
      </p:sp>
      <p:sp>
        <p:nvSpPr>
          <p:cNvPr id="5" name="Shape 3"/>
          <p:cNvSpPr/>
          <p:nvPr/>
        </p:nvSpPr>
        <p:spPr>
          <a:xfrm>
            <a:off x="640080" y="2148840"/>
            <a:ext cx="2468880" cy="1737360"/>
          </a:xfrm>
          <a:prstGeom prst="rect">
            <a:avLst/>
          </a:prstGeom>
          <a:solidFill>
            <a:srgbClr val="031B35"/>
          </a:solidFill>
          <a:ln/>
        </p:spPr>
      </p:sp>
      <p:sp>
        <p:nvSpPr>
          <p:cNvPr id="6" name="Text 4"/>
          <p:cNvSpPr txBox="1"/>
          <p:nvPr/>
        </p:nvSpPr>
        <p:spPr>
          <a:xfrm>
            <a:off x="822960" y="3383280"/>
            <a:ext cx="2103120" cy="274320"/>
          </a:xfrm>
          <a:prstGeom prst="rect">
            <a:avLst/>
          </a:prstGeom>
          <a:noFill/>
          <a:ln/>
        </p:spPr>
        <p:txBody>
          <a:bodyPr wrap="square" lIns="0" tIns="0" rIns="0" bIns="0"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Mansoori Navy</a:t>
            </a:r>
            <a:endParaRPr lang="en-US" sz="1300" dirty="0"/>
          </a:p>
        </p:txBody>
      </p:sp>
      <p:sp>
        <p:nvSpPr>
          <p:cNvPr id="7" name="Text 5"/>
          <p:cNvSpPr txBox="1"/>
          <p:nvPr/>
        </p:nvSpPr>
        <p:spPr>
          <a:xfrm>
            <a:off x="822960" y="2286000"/>
            <a:ext cx="2103120" cy="274320"/>
          </a:xfrm>
          <a:prstGeom prst="rect">
            <a:avLst/>
          </a:prstGeom>
          <a:noFill/>
          <a:ln/>
        </p:spPr>
        <p:txBody>
          <a:bodyPr wrap="square" lIns="0" tIns="0" rIns="0" bIns="0" rtlCol="0" anchor="ctr"/>
          <a:lstStyle/>
          <a:p>
            <a:pPr marL="0" indent="0">
              <a:buNone/>
            </a:pPr>
            <a:r>
              <a:rPr lang="en-US" sz="900" b="1" kern="0" spc="200" dirty="0">
                <a:solidFill>
                  <a:srgbClr val="C9D2DC"/>
                </a:solidFill>
                <a:latin typeface="Calibri" pitchFamily="34" charset="0"/>
                <a:ea typeface="Calibri" pitchFamily="34" charset="-122"/>
                <a:cs typeface="Calibri" pitchFamily="34" charset="-120"/>
              </a:rPr>
              <a:t>PRIMARY</a:t>
            </a:r>
            <a:endParaRPr lang="en-US" sz="900" dirty="0"/>
          </a:p>
        </p:txBody>
      </p:sp>
      <p:sp>
        <p:nvSpPr>
          <p:cNvPr id="8" name="Text 6"/>
          <p:cNvSpPr txBox="1"/>
          <p:nvPr/>
        </p:nvSpPr>
        <p:spPr>
          <a:xfrm>
            <a:off x="822960" y="3959352"/>
            <a:ext cx="2468880" cy="228600"/>
          </a:xfrm>
          <a:prstGeom prst="rect">
            <a:avLst/>
          </a:prstGeom>
          <a:noFill/>
          <a:ln/>
        </p:spPr>
        <p:txBody>
          <a:bodyPr wrap="square" lIns="0" tIns="0" rIns="0" bIns="0" rtlCol="0" anchor="ctr"/>
          <a:lstStyle/>
          <a:p>
            <a:pPr marL="0" indent="0">
              <a:buNone/>
            </a:pPr>
            <a:r>
              <a:rPr lang="en-US" sz="950" dirty="0">
                <a:solidFill>
                  <a:srgbClr val="2B2B2B"/>
                </a:solidFill>
                <a:latin typeface="Calibri" pitchFamily="34" charset="0"/>
                <a:ea typeface="Calibri" pitchFamily="34" charset="-122"/>
                <a:cs typeface="Calibri" pitchFamily="34" charset="-120"/>
              </a:rPr>
              <a:t>HEX 031B35</a:t>
            </a:r>
            <a:endParaRPr lang="en-US" sz="950" dirty="0"/>
          </a:p>
        </p:txBody>
      </p:sp>
      <p:sp>
        <p:nvSpPr>
          <p:cNvPr id="9" name="Text 7"/>
          <p:cNvSpPr txBox="1"/>
          <p:nvPr/>
        </p:nvSpPr>
        <p:spPr>
          <a:xfrm>
            <a:off x="822960" y="4187952"/>
            <a:ext cx="2468880" cy="228600"/>
          </a:xfrm>
          <a:prstGeom prst="rect">
            <a:avLst/>
          </a:prstGeom>
          <a:noFill/>
          <a:ln/>
        </p:spPr>
        <p:txBody>
          <a:bodyPr wrap="square" lIns="0" tIns="0" rIns="0" bIns="0" rtlCol="0" anchor="ctr"/>
          <a:lstStyle/>
          <a:p>
            <a:pPr marL="0" indent="0">
              <a:buNone/>
            </a:pPr>
            <a:r>
              <a:rPr lang="en-US" sz="950" dirty="0">
                <a:solidFill>
                  <a:srgbClr val="6B6B6B"/>
                </a:solidFill>
                <a:latin typeface="Calibri" pitchFamily="34" charset="0"/>
                <a:ea typeface="Calibri" pitchFamily="34" charset="-122"/>
                <a:cs typeface="Calibri" pitchFamily="34" charset="-120"/>
              </a:rPr>
              <a:t>RGB 3, 27, 53</a:t>
            </a:r>
            <a:endParaRPr lang="en-US" sz="950" dirty="0"/>
          </a:p>
        </p:txBody>
      </p:sp>
      <p:sp>
        <p:nvSpPr>
          <p:cNvPr id="10" name="Text 8"/>
          <p:cNvSpPr txBox="1"/>
          <p:nvPr/>
        </p:nvSpPr>
        <p:spPr>
          <a:xfrm>
            <a:off x="822960" y="4416552"/>
            <a:ext cx="2468880" cy="228600"/>
          </a:xfrm>
          <a:prstGeom prst="rect">
            <a:avLst/>
          </a:prstGeom>
          <a:noFill/>
          <a:ln/>
        </p:spPr>
        <p:txBody>
          <a:bodyPr wrap="square" lIns="0" tIns="0" rIns="0" bIns="0" rtlCol="0" anchor="ctr"/>
          <a:lstStyle/>
          <a:p>
            <a:pPr marL="0" indent="0">
              <a:buNone/>
            </a:pPr>
            <a:r>
              <a:rPr lang="en-US" sz="950" dirty="0">
                <a:solidFill>
                  <a:srgbClr val="6B6B6B"/>
                </a:solidFill>
                <a:latin typeface="Calibri" pitchFamily="34" charset="0"/>
                <a:ea typeface="Calibri" pitchFamily="34" charset="-122"/>
                <a:cs typeface="Calibri" pitchFamily="34" charset="-120"/>
              </a:rPr>
              <a:t>CMYK 94, 78, 45, 61</a:t>
            </a:r>
            <a:endParaRPr lang="en-US" sz="950" dirty="0"/>
          </a:p>
        </p:txBody>
      </p:sp>
      <p:sp>
        <p:nvSpPr>
          <p:cNvPr id="11" name="Shape 9"/>
          <p:cNvSpPr/>
          <p:nvPr/>
        </p:nvSpPr>
        <p:spPr>
          <a:xfrm>
            <a:off x="3337560" y="2148840"/>
            <a:ext cx="2468880" cy="1737360"/>
          </a:xfrm>
          <a:prstGeom prst="rect">
            <a:avLst/>
          </a:prstGeom>
          <a:solidFill>
            <a:srgbClr val="C8A74C"/>
          </a:solidFill>
          <a:ln/>
        </p:spPr>
      </p:sp>
      <p:sp>
        <p:nvSpPr>
          <p:cNvPr id="12" name="Text 10"/>
          <p:cNvSpPr txBox="1"/>
          <p:nvPr/>
        </p:nvSpPr>
        <p:spPr>
          <a:xfrm>
            <a:off x="3520440" y="3383280"/>
            <a:ext cx="2103120" cy="274320"/>
          </a:xfrm>
          <a:prstGeom prst="rect">
            <a:avLst/>
          </a:prstGeom>
          <a:noFill/>
          <a:ln/>
        </p:spPr>
        <p:txBody>
          <a:bodyPr wrap="square" lIns="0" tIns="0" rIns="0" bIns="0" rtlCol="0" anchor="ctr"/>
          <a:lstStyle/>
          <a:p>
            <a:pPr marL="0" indent="0">
              <a:buNone/>
            </a:pPr>
            <a:r>
              <a:rPr lang="en-US" sz="1300" b="1" dirty="0">
                <a:solidFill>
                  <a:srgbClr val="031B35"/>
                </a:solidFill>
                <a:latin typeface="Cambria" pitchFamily="34" charset="0"/>
                <a:ea typeface="Cambria" pitchFamily="34" charset="-122"/>
                <a:cs typeface="Cambria" pitchFamily="34" charset="-120"/>
              </a:rPr>
              <a:t>Estate Gold</a:t>
            </a:r>
            <a:endParaRPr lang="en-US" sz="1300" dirty="0"/>
          </a:p>
        </p:txBody>
      </p:sp>
      <p:sp>
        <p:nvSpPr>
          <p:cNvPr id="13" name="Text 11"/>
          <p:cNvSpPr txBox="1"/>
          <p:nvPr/>
        </p:nvSpPr>
        <p:spPr>
          <a:xfrm>
            <a:off x="3520440" y="2286000"/>
            <a:ext cx="2103120" cy="274320"/>
          </a:xfrm>
          <a:prstGeom prst="rect">
            <a:avLst/>
          </a:prstGeom>
          <a:noFill/>
          <a:ln/>
        </p:spPr>
        <p:txBody>
          <a:bodyPr wrap="square" lIns="0" tIns="0" rIns="0" bIns="0" rtlCol="0" anchor="ctr"/>
          <a:lstStyle/>
          <a:p>
            <a:pPr marL="0" indent="0">
              <a:buNone/>
            </a:pPr>
            <a:r>
              <a:rPr lang="en-US" sz="900" b="1" kern="0" spc="200" dirty="0">
                <a:solidFill>
                  <a:srgbClr val="5A4A20"/>
                </a:solidFill>
                <a:latin typeface="Calibri" pitchFamily="34" charset="0"/>
                <a:ea typeface="Calibri" pitchFamily="34" charset="-122"/>
                <a:cs typeface="Calibri" pitchFamily="34" charset="-120"/>
              </a:rPr>
              <a:t>PRIMARY</a:t>
            </a:r>
            <a:endParaRPr lang="en-US" sz="900" dirty="0"/>
          </a:p>
        </p:txBody>
      </p:sp>
      <p:sp>
        <p:nvSpPr>
          <p:cNvPr id="14" name="Text 12"/>
          <p:cNvSpPr txBox="1"/>
          <p:nvPr/>
        </p:nvSpPr>
        <p:spPr>
          <a:xfrm>
            <a:off x="3520440" y="3959352"/>
            <a:ext cx="2468880" cy="228600"/>
          </a:xfrm>
          <a:prstGeom prst="rect">
            <a:avLst/>
          </a:prstGeom>
          <a:noFill/>
          <a:ln/>
        </p:spPr>
        <p:txBody>
          <a:bodyPr wrap="square" lIns="0" tIns="0" rIns="0" bIns="0" rtlCol="0" anchor="ctr"/>
          <a:lstStyle/>
          <a:p>
            <a:pPr marL="0" indent="0">
              <a:buNone/>
            </a:pPr>
            <a:r>
              <a:rPr lang="en-US" sz="950" dirty="0">
                <a:solidFill>
                  <a:srgbClr val="2B2B2B"/>
                </a:solidFill>
                <a:latin typeface="Calibri" pitchFamily="34" charset="0"/>
                <a:ea typeface="Calibri" pitchFamily="34" charset="-122"/>
                <a:cs typeface="Calibri" pitchFamily="34" charset="-120"/>
              </a:rPr>
              <a:t>HEX C8A74C</a:t>
            </a:r>
            <a:endParaRPr lang="en-US" sz="950" dirty="0"/>
          </a:p>
        </p:txBody>
      </p:sp>
      <p:sp>
        <p:nvSpPr>
          <p:cNvPr id="15" name="Text 13"/>
          <p:cNvSpPr txBox="1"/>
          <p:nvPr/>
        </p:nvSpPr>
        <p:spPr>
          <a:xfrm>
            <a:off x="3520440" y="4187952"/>
            <a:ext cx="2468880" cy="228600"/>
          </a:xfrm>
          <a:prstGeom prst="rect">
            <a:avLst/>
          </a:prstGeom>
          <a:noFill/>
          <a:ln/>
        </p:spPr>
        <p:txBody>
          <a:bodyPr wrap="square" lIns="0" tIns="0" rIns="0" bIns="0" rtlCol="0" anchor="ctr"/>
          <a:lstStyle/>
          <a:p>
            <a:pPr marL="0" indent="0">
              <a:buNone/>
            </a:pPr>
            <a:r>
              <a:rPr lang="en-US" sz="950" dirty="0">
                <a:solidFill>
                  <a:srgbClr val="6B6B6B"/>
                </a:solidFill>
                <a:latin typeface="Calibri" pitchFamily="34" charset="0"/>
                <a:ea typeface="Calibri" pitchFamily="34" charset="-122"/>
                <a:cs typeface="Calibri" pitchFamily="34" charset="-120"/>
              </a:rPr>
              <a:t>RGB 200, 167, 76</a:t>
            </a:r>
            <a:endParaRPr lang="en-US" sz="950" dirty="0"/>
          </a:p>
        </p:txBody>
      </p:sp>
      <p:sp>
        <p:nvSpPr>
          <p:cNvPr id="16" name="Text 14"/>
          <p:cNvSpPr txBox="1"/>
          <p:nvPr/>
        </p:nvSpPr>
        <p:spPr>
          <a:xfrm>
            <a:off x="3520440" y="4416552"/>
            <a:ext cx="2468880" cy="228600"/>
          </a:xfrm>
          <a:prstGeom prst="rect">
            <a:avLst/>
          </a:prstGeom>
          <a:noFill/>
          <a:ln/>
        </p:spPr>
        <p:txBody>
          <a:bodyPr wrap="square" lIns="0" tIns="0" rIns="0" bIns="0" rtlCol="0" anchor="ctr"/>
          <a:lstStyle/>
          <a:p>
            <a:pPr marL="0" indent="0">
              <a:buNone/>
            </a:pPr>
            <a:r>
              <a:rPr lang="en-US" sz="950" dirty="0">
                <a:solidFill>
                  <a:srgbClr val="6B6B6B"/>
                </a:solidFill>
                <a:latin typeface="Calibri" pitchFamily="34" charset="0"/>
                <a:ea typeface="Calibri" pitchFamily="34" charset="-122"/>
                <a:cs typeface="Calibri" pitchFamily="34" charset="-120"/>
              </a:rPr>
              <a:t>CMYK 16, 26, 74, 2</a:t>
            </a:r>
            <a:endParaRPr lang="en-US" sz="950" dirty="0"/>
          </a:p>
        </p:txBody>
      </p:sp>
      <p:sp>
        <p:nvSpPr>
          <p:cNvPr id="17" name="Shape 15"/>
          <p:cNvSpPr/>
          <p:nvPr/>
        </p:nvSpPr>
        <p:spPr>
          <a:xfrm>
            <a:off x="6583680" y="2148840"/>
            <a:ext cx="1143000" cy="1737360"/>
          </a:xfrm>
          <a:prstGeom prst="rect">
            <a:avLst/>
          </a:prstGeom>
          <a:solidFill>
            <a:srgbClr val="FFFFEF"/>
          </a:solidFill>
          <a:ln w="9525">
            <a:solidFill>
              <a:srgbClr val="E4DDC8"/>
            </a:solidFill>
            <a:prstDash val="solid"/>
          </a:ln>
        </p:spPr>
      </p:sp>
      <p:sp>
        <p:nvSpPr>
          <p:cNvPr id="18" name="Text 16"/>
          <p:cNvSpPr txBox="1"/>
          <p:nvPr/>
        </p:nvSpPr>
        <p:spPr>
          <a:xfrm>
            <a:off x="6583680" y="3977640"/>
            <a:ext cx="1143000" cy="274320"/>
          </a:xfrm>
          <a:prstGeom prst="rect">
            <a:avLst/>
          </a:prstGeom>
          <a:noFill/>
          <a:ln/>
        </p:spPr>
        <p:txBody>
          <a:bodyPr wrap="square" lIns="0" tIns="0" rIns="0" bIns="0" rtlCol="0" anchor="ctr"/>
          <a:lstStyle/>
          <a:p>
            <a:pPr marL="0" indent="0" algn="ctr">
              <a:buNone/>
            </a:pPr>
            <a:r>
              <a:rPr lang="en-US" sz="800" dirty="0">
                <a:solidFill>
                  <a:srgbClr val="2B2B2B"/>
                </a:solidFill>
                <a:latin typeface="Calibri" pitchFamily="34" charset="0"/>
                <a:ea typeface="Calibri" pitchFamily="34" charset="-122"/>
                <a:cs typeface="Calibri" pitchFamily="34" charset="-120"/>
              </a:rPr>
              <a:t>HEX FFFFEF</a:t>
            </a:r>
            <a:endParaRPr lang="en-US" sz="800" dirty="0"/>
          </a:p>
        </p:txBody>
      </p:sp>
      <p:sp>
        <p:nvSpPr>
          <p:cNvPr id="19" name="Text 17"/>
          <p:cNvSpPr txBox="1"/>
          <p:nvPr/>
        </p:nvSpPr>
        <p:spPr>
          <a:xfrm>
            <a:off x="6583680" y="4233672"/>
            <a:ext cx="1143000" cy="457200"/>
          </a:xfrm>
          <a:prstGeom prst="rect">
            <a:avLst/>
          </a:prstGeom>
          <a:noFill/>
          <a:ln/>
        </p:spPr>
        <p:txBody>
          <a:bodyPr wrap="square" lIns="0" tIns="0" rIns="0" bIns="0" rtlCol="0" anchor="ctr"/>
          <a:lstStyle/>
          <a:p>
            <a:pPr marL="0" indent="0" algn="ctr">
              <a:lnSpc>
                <a:spcPct val="110000"/>
              </a:lnSpc>
              <a:buNone/>
            </a:pPr>
            <a:r>
              <a:rPr lang="en-US" sz="800" dirty="0">
                <a:solidFill>
                  <a:srgbClr val="6B6B6B"/>
                </a:solidFill>
                <a:latin typeface="Calibri" pitchFamily="34" charset="0"/>
                <a:ea typeface="Calibri" pitchFamily="34" charset="-122"/>
                <a:cs typeface="Calibri" pitchFamily="34" charset="-120"/>
              </a:rPr>
              <a:t>Ivory Cream</a:t>
            </a:r>
            <a:endParaRPr lang="en-US" sz="800" dirty="0"/>
          </a:p>
        </p:txBody>
      </p:sp>
      <p:sp>
        <p:nvSpPr>
          <p:cNvPr id="20" name="Shape 18"/>
          <p:cNvSpPr/>
          <p:nvPr/>
        </p:nvSpPr>
        <p:spPr>
          <a:xfrm>
            <a:off x="7909560" y="2148840"/>
            <a:ext cx="1143000" cy="1737360"/>
          </a:xfrm>
          <a:prstGeom prst="rect">
            <a:avLst/>
          </a:prstGeom>
          <a:solidFill>
            <a:srgbClr val="F7F4EA"/>
          </a:solidFill>
          <a:ln w="9525">
            <a:solidFill>
              <a:srgbClr val="E4DDC8"/>
            </a:solidFill>
            <a:prstDash val="solid"/>
          </a:ln>
        </p:spPr>
      </p:sp>
      <p:sp>
        <p:nvSpPr>
          <p:cNvPr id="21" name="Text 19"/>
          <p:cNvSpPr txBox="1"/>
          <p:nvPr/>
        </p:nvSpPr>
        <p:spPr>
          <a:xfrm>
            <a:off x="7909560" y="3977640"/>
            <a:ext cx="1143000" cy="274320"/>
          </a:xfrm>
          <a:prstGeom prst="rect">
            <a:avLst/>
          </a:prstGeom>
          <a:noFill/>
          <a:ln/>
        </p:spPr>
        <p:txBody>
          <a:bodyPr wrap="square" lIns="0" tIns="0" rIns="0" bIns="0" rtlCol="0" anchor="ctr"/>
          <a:lstStyle/>
          <a:p>
            <a:pPr marL="0" indent="0" algn="ctr">
              <a:buNone/>
            </a:pPr>
            <a:r>
              <a:rPr lang="en-US" sz="800" dirty="0">
                <a:solidFill>
                  <a:srgbClr val="2B2B2B"/>
                </a:solidFill>
                <a:latin typeface="Calibri" pitchFamily="34" charset="0"/>
                <a:ea typeface="Calibri" pitchFamily="34" charset="-122"/>
                <a:cs typeface="Calibri" pitchFamily="34" charset="-120"/>
              </a:rPr>
              <a:t>HEX F7F4EA</a:t>
            </a:r>
            <a:endParaRPr lang="en-US" sz="800" dirty="0"/>
          </a:p>
        </p:txBody>
      </p:sp>
      <p:sp>
        <p:nvSpPr>
          <p:cNvPr id="22" name="Text 20"/>
          <p:cNvSpPr txBox="1"/>
          <p:nvPr/>
        </p:nvSpPr>
        <p:spPr>
          <a:xfrm>
            <a:off x="7909560" y="4233672"/>
            <a:ext cx="1143000" cy="457200"/>
          </a:xfrm>
          <a:prstGeom prst="rect">
            <a:avLst/>
          </a:prstGeom>
          <a:noFill/>
          <a:ln/>
        </p:spPr>
        <p:txBody>
          <a:bodyPr wrap="square" lIns="0" tIns="0" rIns="0" bIns="0" rtlCol="0" anchor="ctr"/>
          <a:lstStyle/>
          <a:p>
            <a:pPr marL="0" indent="0" algn="ctr">
              <a:lnSpc>
                <a:spcPct val="110000"/>
              </a:lnSpc>
              <a:buNone/>
            </a:pPr>
            <a:r>
              <a:rPr lang="en-US" sz="800" dirty="0">
                <a:solidFill>
                  <a:srgbClr val="6B6B6B"/>
                </a:solidFill>
                <a:latin typeface="Calibri" pitchFamily="34" charset="0"/>
                <a:ea typeface="Calibri" pitchFamily="34" charset="-122"/>
                <a:cs typeface="Calibri" pitchFamily="34" charset="-120"/>
              </a:rPr>
              <a:t>Parchment</a:t>
            </a:r>
            <a:endParaRPr lang="en-US" sz="800" dirty="0"/>
          </a:p>
        </p:txBody>
      </p:sp>
      <p:sp>
        <p:nvSpPr>
          <p:cNvPr id="23" name="Shape 21"/>
          <p:cNvSpPr/>
          <p:nvPr/>
        </p:nvSpPr>
        <p:spPr>
          <a:xfrm>
            <a:off x="9235440" y="2148840"/>
            <a:ext cx="1143000" cy="1737360"/>
          </a:xfrm>
          <a:prstGeom prst="rect">
            <a:avLst/>
          </a:prstGeom>
          <a:solidFill>
            <a:srgbClr val="2B2B2B"/>
          </a:solidFill>
          <a:ln/>
        </p:spPr>
      </p:sp>
      <p:sp>
        <p:nvSpPr>
          <p:cNvPr id="24" name="Text 22"/>
          <p:cNvSpPr txBox="1"/>
          <p:nvPr/>
        </p:nvSpPr>
        <p:spPr>
          <a:xfrm>
            <a:off x="9235440" y="3977640"/>
            <a:ext cx="1143000" cy="274320"/>
          </a:xfrm>
          <a:prstGeom prst="rect">
            <a:avLst/>
          </a:prstGeom>
          <a:noFill/>
          <a:ln/>
        </p:spPr>
        <p:txBody>
          <a:bodyPr wrap="square" lIns="0" tIns="0" rIns="0" bIns="0" rtlCol="0" anchor="ctr"/>
          <a:lstStyle/>
          <a:p>
            <a:pPr marL="0" indent="0" algn="ctr">
              <a:buNone/>
            </a:pPr>
            <a:r>
              <a:rPr lang="en-US" sz="800" dirty="0">
                <a:solidFill>
                  <a:srgbClr val="2B2B2B"/>
                </a:solidFill>
                <a:latin typeface="Calibri" pitchFamily="34" charset="0"/>
                <a:ea typeface="Calibri" pitchFamily="34" charset="-122"/>
                <a:cs typeface="Calibri" pitchFamily="34" charset="-120"/>
              </a:rPr>
              <a:t>HEX 2B2B2B</a:t>
            </a:r>
            <a:endParaRPr lang="en-US" sz="800" dirty="0"/>
          </a:p>
        </p:txBody>
      </p:sp>
      <p:sp>
        <p:nvSpPr>
          <p:cNvPr id="25" name="Text 23"/>
          <p:cNvSpPr txBox="1"/>
          <p:nvPr/>
        </p:nvSpPr>
        <p:spPr>
          <a:xfrm>
            <a:off x="9235440" y="4233672"/>
            <a:ext cx="1143000" cy="457200"/>
          </a:xfrm>
          <a:prstGeom prst="rect">
            <a:avLst/>
          </a:prstGeom>
          <a:noFill/>
          <a:ln/>
        </p:spPr>
        <p:txBody>
          <a:bodyPr wrap="square" lIns="0" tIns="0" rIns="0" bIns="0" rtlCol="0" anchor="ctr"/>
          <a:lstStyle/>
          <a:p>
            <a:pPr marL="0" indent="0" algn="ctr">
              <a:lnSpc>
                <a:spcPct val="110000"/>
              </a:lnSpc>
              <a:buNone/>
            </a:pPr>
            <a:r>
              <a:rPr lang="en-US" sz="800" dirty="0">
                <a:solidFill>
                  <a:srgbClr val="6B6B6B"/>
                </a:solidFill>
                <a:latin typeface="Calibri" pitchFamily="34" charset="0"/>
                <a:ea typeface="Calibri" pitchFamily="34" charset="-122"/>
                <a:cs typeface="Calibri" pitchFamily="34" charset="-120"/>
              </a:rPr>
              <a:t>Charcoal Ink</a:t>
            </a:r>
            <a:endParaRPr lang="en-US" sz="800" dirty="0"/>
          </a:p>
        </p:txBody>
      </p:sp>
      <p:sp>
        <p:nvSpPr>
          <p:cNvPr id="26" name="Shape 24"/>
          <p:cNvSpPr/>
          <p:nvPr/>
        </p:nvSpPr>
        <p:spPr>
          <a:xfrm>
            <a:off x="10561320" y="2148840"/>
            <a:ext cx="1143000" cy="1737360"/>
          </a:xfrm>
          <a:prstGeom prst="rect">
            <a:avLst/>
          </a:prstGeom>
          <a:solidFill>
            <a:srgbClr val="6B6B6B"/>
          </a:solidFill>
          <a:ln/>
        </p:spPr>
      </p:sp>
      <p:sp>
        <p:nvSpPr>
          <p:cNvPr id="27" name="Text 25"/>
          <p:cNvSpPr txBox="1"/>
          <p:nvPr/>
        </p:nvSpPr>
        <p:spPr>
          <a:xfrm>
            <a:off x="10561320" y="3977640"/>
            <a:ext cx="1143000" cy="274320"/>
          </a:xfrm>
          <a:prstGeom prst="rect">
            <a:avLst/>
          </a:prstGeom>
          <a:noFill/>
          <a:ln/>
        </p:spPr>
        <p:txBody>
          <a:bodyPr wrap="square" lIns="0" tIns="0" rIns="0" bIns="0" rtlCol="0" anchor="ctr"/>
          <a:lstStyle/>
          <a:p>
            <a:pPr marL="0" indent="0" algn="ctr">
              <a:buNone/>
            </a:pPr>
            <a:r>
              <a:rPr lang="en-US" sz="800" dirty="0">
                <a:solidFill>
                  <a:srgbClr val="2B2B2B"/>
                </a:solidFill>
                <a:latin typeface="Calibri" pitchFamily="34" charset="0"/>
                <a:ea typeface="Calibri" pitchFamily="34" charset="-122"/>
                <a:cs typeface="Calibri" pitchFamily="34" charset="-120"/>
              </a:rPr>
              <a:t>HEX 6B6B6B</a:t>
            </a:r>
            <a:endParaRPr lang="en-US" sz="800" dirty="0"/>
          </a:p>
        </p:txBody>
      </p:sp>
      <p:sp>
        <p:nvSpPr>
          <p:cNvPr id="28" name="Text 26"/>
          <p:cNvSpPr txBox="1"/>
          <p:nvPr/>
        </p:nvSpPr>
        <p:spPr>
          <a:xfrm>
            <a:off x="10561320" y="4233672"/>
            <a:ext cx="1143000" cy="457200"/>
          </a:xfrm>
          <a:prstGeom prst="rect">
            <a:avLst/>
          </a:prstGeom>
          <a:noFill/>
          <a:ln/>
        </p:spPr>
        <p:txBody>
          <a:bodyPr wrap="square" lIns="0" tIns="0" rIns="0" bIns="0" rtlCol="0" anchor="ctr"/>
          <a:lstStyle/>
          <a:p>
            <a:pPr marL="0" indent="0" algn="ctr">
              <a:lnSpc>
                <a:spcPct val="110000"/>
              </a:lnSpc>
              <a:buNone/>
            </a:pPr>
            <a:r>
              <a:rPr lang="en-US" sz="800" dirty="0">
                <a:solidFill>
                  <a:srgbClr val="6B6B6B"/>
                </a:solidFill>
                <a:latin typeface="Calibri" pitchFamily="34" charset="0"/>
                <a:ea typeface="Calibri" pitchFamily="34" charset="-122"/>
                <a:cs typeface="Calibri" pitchFamily="34" charset="-120"/>
              </a:rPr>
              <a:t>Warm Gray</a:t>
            </a:r>
            <a:endParaRPr lang="en-US" sz="800" dirty="0"/>
          </a:p>
        </p:txBody>
      </p:sp>
      <p:sp>
        <p:nvSpPr>
          <p:cNvPr id="29" name="Text 27"/>
          <p:cNvSpPr txBox="1"/>
          <p:nvPr/>
        </p:nvSpPr>
        <p:spPr>
          <a:xfrm>
            <a:off x="6583680" y="1874520"/>
            <a:ext cx="4937760" cy="274320"/>
          </a:xfrm>
          <a:prstGeom prst="rect">
            <a:avLst/>
          </a:prstGeom>
          <a:noFill/>
          <a:ln/>
        </p:spPr>
        <p:txBody>
          <a:bodyPr wrap="square" lIns="0" tIns="0" rIns="0" bIns="0" rtlCol="0" anchor="ctr"/>
          <a:lstStyle/>
          <a:p>
            <a:pPr marL="0" indent="0">
              <a:buNone/>
            </a:pPr>
            <a:r>
              <a:rPr lang="en-US" sz="900" b="1" kern="0" spc="200" dirty="0">
                <a:solidFill>
                  <a:srgbClr val="6B6B6B"/>
                </a:solidFill>
                <a:latin typeface="Calibri" pitchFamily="34" charset="0"/>
                <a:ea typeface="Calibri" pitchFamily="34" charset="-122"/>
                <a:cs typeface="Calibri" pitchFamily="34" charset="-120"/>
              </a:rPr>
              <a:t>SUPPORTING NEUTRALS</a:t>
            </a:r>
            <a:endParaRPr lang="en-US" sz="900" dirty="0"/>
          </a:p>
        </p:txBody>
      </p:sp>
      <p:sp>
        <p:nvSpPr>
          <p:cNvPr id="30" name="Text 28"/>
          <p:cNvSpPr txBox="1"/>
          <p:nvPr/>
        </p:nvSpPr>
        <p:spPr>
          <a:xfrm>
            <a:off x="11548872" y="6446520"/>
            <a:ext cx="365760" cy="274320"/>
          </a:xfrm>
          <a:prstGeom prst="rect">
            <a:avLst/>
          </a:prstGeom>
          <a:noFill/>
          <a:ln/>
        </p:spPr>
        <p:txBody>
          <a:bodyPr wrap="square" lIns="0" tIns="0" rIns="0" bIns="0"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40080" y="502920"/>
            <a:ext cx="7315200" cy="320040"/>
          </a:xfrm>
          <a:prstGeom prst="rect">
            <a:avLst/>
          </a:prstGeom>
          <a:noFill/>
          <a:ln/>
        </p:spPr>
        <p:txBody>
          <a:bodyPr wrap="square" lIns="0" tIns="0" rIns="0" bIns="0" rtlCol="0" anchor="ctr"/>
          <a:lstStyle/>
          <a:p>
            <a:pPr marL="0" indent="0">
              <a:buNone/>
            </a:pPr>
            <a:r>
              <a:rPr lang="en-US" sz="1200" b="1" kern="0" spc="300" dirty="0">
                <a:solidFill>
                  <a:srgbClr val="A8863A"/>
                </a:solidFill>
                <a:latin typeface="Calibri" pitchFamily="34" charset="0"/>
                <a:ea typeface="Calibri" pitchFamily="34" charset="-122"/>
                <a:cs typeface="Calibri" pitchFamily="34" charset="-120"/>
              </a:rPr>
              <a:t>TYPOGRAPHY</a:t>
            </a:r>
            <a:endParaRPr lang="en-US" sz="1200" dirty="0"/>
          </a:p>
        </p:txBody>
      </p:sp>
      <p:sp>
        <p:nvSpPr>
          <p:cNvPr id="3" name="Text 1"/>
          <p:cNvSpPr txBox="1"/>
          <p:nvPr/>
        </p:nvSpPr>
        <p:spPr>
          <a:xfrm>
            <a:off x="640080" y="868680"/>
            <a:ext cx="9144000" cy="640080"/>
          </a:xfrm>
          <a:prstGeom prst="rect">
            <a:avLst/>
          </a:prstGeom>
          <a:noFill/>
          <a:ln/>
        </p:spPr>
        <p:txBody>
          <a:bodyPr wrap="square" lIns="0" tIns="0" rIns="0" bIns="0" rtlCol="0" anchor="ctr"/>
          <a:lstStyle/>
          <a:p>
            <a:pPr marL="0" indent="0">
              <a:buNone/>
            </a:pPr>
            <a:r>
              <a:rPr lang="en-US" sz="3200" b="1" dirty="0">
                <a:solidFill>
                  <a:srgbClr val="031B35"/>
                </a:solidFill>
                <a:latin typeface="Cambria" pitchFamily="34" charset="0"/>
                <a:ea typeface="Cambria" pitchFamily="34" charset="-122"/>
                <a:cs typeface="Cambria" pitchFamily="34" charset="-120"/>
              </a:rPr>
              <a:t>Typography</a:t>
            </a:r>
            <a:endParaRPr lang="en-US" sz="3200" dirty="0"/>
          </a:p>
        </p:txBody>
      </p:sp>
      <p:sp>
        <p:nvSpPr>
          <p:cNvPr id="4" name="Shape 2"/>
          <p:cNvSpPr/>
          <p:nvPr/>
        </p:nvSpPr>
        <p:spPr>
          <a:xfrm>
            <a:off x="640080" y="1600200"/>
            <a:ext cx="10881360" cy="1600200"/>
          </a:xfrm>
          <a:prstGeom prst="rect">
            <a:avLst/>
          </a:prstGeom>
          <a:solidFill>
            <a:srgbClr val="FFFFFF"/>
          </a:solidFill>
          <a:ln w="9525">
            <a:solidFill>
              <a:srgbClr val="E4DDC8"/>
            </a:solidFill>
            <a:prstDash val="solid"/>
          </a:ln>
        </p:spPr>
      </p:sp>
      <p:sp>
        <p:nvSpPr>
          <p:cNvPr id="5" name="Text 3"/>
          <p:cNvSpPr txBox="1"/>
          <p:nvPr/>
        </p:nvSpPr>
        <p:spPr>
          <a:xfrm>
            <a:off x="868680" y="1737360"/>
            <a:ext cx="1463040" cy="1325880"/>
          </a:xfrm>
          <a:prstGeom prst="rect">
            <a:avLst/>
          </a:prstGeom>
          <a:noFill/>
          <a:ln/>
        </p:spPr>
        <p:txBody>
          <a:bodyPr wrap="square" lIns="0" tIns="0" rIns="0" bIns="0" rtlCol="0" anchor="ctr"/>
          <a:lstStyle/>
          <a:p>
            <a:pPr marL="0" indent="0">
              <a:buNone/>
            </a:pPr>
            <a:r>
              <a:rPr lang="en-US" sz="5400" dirty="0">
                <a:solidFill>
                  <a:srgbClr val="031B35"/>
                </a:solidFill>
                <a:latin typeface="Cambria" pitchFamily="34" charset="0"/>
                <a:ea typeface="Cambria" pitchFamily="34" charset="-122"/>
                <a:cs typeface="Cambria" pitchFamily="34" charset="-120"/>
              </a:rPr>
              <a:t>Aa</a:t>
            </a:r>
            <a:endParaRPr lang="en-US" sz="5400" dirty="0"/>
          </a:p>
        </p:txBody>
      </p:sp>
      <p:sp>
        <p:nvSpPr>
          <p:cNvPr id="6" name="Text 4"/>
          <p:cNvSpPr txBox="1"/>
          <p:nvPr/>
        </p:nvSpPr>
        <p:spPr>
          <a:xfrm>
            <a:off x="2468880" y="1828800"/>
            <a:ext cx="3657600" cy="365760"/>
          </a:xfrm>
          <a:prstGeom prst="rect">
            <a:avLst/>
          </a:prstGeom>
          <a:noFill/>
          <a:ln/>
        </p:spPr>
        <p:txBody>
          <a:bodyPr wrap="square" lIns="0" tIns="0" rIns="0" bIns="0" rtlCol="0" anchor="ctr"/>
          <a:lstStyle/>
          <a:p>
            <a:pPr marL="0" indent="0">
              <a:buNone/>
            </a:pPr>
            <a:r>
              <a:rPr lang="en-US" sz="1600" b="1" dirty="0">
                <a:solidFill>
                  <a:srgbClr val="031B35"/>
                </a:solidFill>
                <a:latin typeface="Cambria" pitchFamily="34" charset="0"/>
                <a:ea typeface="Cambria" pitchFamily="34" charset="-122"/>
                <a:cs typeface="Cambria" pitchFamily="34" charset="-120"/>
              </a:rPr>
              <a:t>Cambria</a:t>
            </a:r>
            <a:endParaRPr lang="en-US" sz="1600" dirty="0"/>
          </a:p>
        </p:txBody>
      </p:sp>
      <p:sp>
        <p:nvSpPr>
          <p:cNvPr id="7" name="Text 5"/>
          <p:cNvSpPr txBox="1"/>
          <p:nvPr/>
        </p:nvSpPr>
        <p:spPr>
          <a:xfrm>
            <a:off x="2468880" y="2194560"/>
            <a:ext cx="3657600" cy="320040"/>
          </a:xfrm>
          <a:prstGeom prst="rect">
            <a:avLst/>
          </a:prstGeom>
          <a:noFill/>
          <a:ln/>
        </p:spPr>
        <p:txBody>
          <a:bodyPr wrap="square" lIns="0" tIns="0" rIns="0" bIns="0" rtlCol="0" anchor="ctr"/>
          <a:lstStyle/>
          <a:p>
            <a:pPr marL="0" indent="0">
              <a:buNone/>
            </a:pPr>
            <a:r>
              <a:rPr lang="en-US" sz="1050" dirty="0">
                <a:solidFill>
                  <a:srgbClr val="6B6B6B"/>
                </a:solidFill>
                <a:latin typeface="Calibri" pitchFamily="34" charset="0"/>
                <a:ea typeface="Calibri" pitchFamily="34" charset="-122"/>
                <a:cs typeface="Calibri" pitchFamily="34" charset="-120"/>
              </a:rPr>
              <a:t>Headlines &amp; section titles · Bold</a:t>
            </a:r>
            <a:endParaRPr lang="en-US" sz="1050" dirty="0"/>
          </a:p>
        </p:txBody>
      </p:sp>
      <p:sp>
        <p:nvSpPr>
          <p:cNvPr id="8" name="Text 6"/>
          <p:cNvSpPr txBox="1"/>
          <p:nvPr/>
        </p:nvSpPr>
        <p:spPr>
          <a:xfrm>
            <a:off x="2468880" y="2606040"/>
            <a:ext cx="8778240" cy="457200"/>
          </a:xfrm>
          <a:prstGeom prst="rect">
            <a:avLst/>
          </a:prstGeom>
          <a:noFill/>
          <a:ln/>
        </p:spPr>
        <p:txBody>
          <a:bodyPr wrap="square" lIns="0" tIns="0" rIns="0" bIns="0" rtlCol="0" anchor="ctr"/>
          <a:lstStyle/>
          <a:p>
            <a:pPr marL="0" indent="0">
              <a:buNone/>
            </a:pPr>
            <a:r>
              <a:rPr lang="en-US" sz="2200" dirty="0">
                <a:solidFill>
                  <a:srgbClr val="2B2B2B"/>
                </a:solidFill>
                <a:latin typeface="Cambria" pitchFamily="34" charset="0"/>
                <a:ea typeface="Cambria" pitchFamily="34" charset="-122"/>
                <a:cs typeface="Cambria" pitchFamily="34" charset="-120"/>
              </a:rPr>
              <a:t>Khalid Al Mansoori Properties</a:t>
            </a:r>
            <a:endParaRPr lang="en-US" sz="2200" dirty="0"/>
          </a:p>
        </p:txBody>
      </p:sp>
      <p:sp>
        <p:nvSpPr>
          <p:cNvPr id="9" name="Shape 7"/>
          <p:cNvSpPr/>
          <p:nvPr/>
        </p:nvSpPr>
        <p:spPr>
          <a:xfrm>
            <a:off x="640080" y="3383280"/>
            <a:ext cx="10881360" cy="1417320"/>
          </a:xfrm>
          <a:prstGeom prst="rect">
            <a:avLst/>
          </a:prstGeom>
          <a:solidFill>
            <a:srgbClr val="FFFFFF"/>
          </a:solidFill>
          <a:ln w="9525">
            <a:solidFill>
              <a:srgbClr val="E4DDC8"/>
            </a:solidFill>
            <a:prstDash val="solid"/>
          </a:ln>
        </p:spPr>
      </p:sp>
      <p:sp>
        <p:nvSpPr>
          <p:cNvPr id="10" name="Text 8"/>
          <p:cNvSpPr txBox="1"/>
          <p:nvPr/>
        </p:nvSpPr>
        <p:spPr>
          <a:xfrm>
            <a:off x="868680" y="3474720"/>
            <a:ext cx="1463040" cy="1234440"/>
          </a:xfrm>
          <a:prstGeom prst="rect">
            <a:avLst/>
          </a:prstGeom>
          <a:noFill/>
          <a:ln/>
        </p:spPr>
        <p:txBody>
          <a:bodyPr wrap="square" lIns="0" tIns="0" rIns="0" bIns="0" rtlCol="0" anchor="ctr"/>
          <a:lstStyle/>
          <a:p>
            <a:pPr marL="0" indent="0">
              <a:buNone/>
            </a:pPr>
            <a:r>
              <a:rPr lang="en-US" sz="4800" i="1" dirty="0">
                <a:solidFill>
                  <a:srgbClr val="A8863A"/>
                </a:solidFill>
                <a:latin typeface="Cambria" pitchFamily="34" charset="0"/>
                <a:ea typeface="Cambria" pitchFamily="34" charset="-122"/>
                <a:cs typeface="Cambria" pitchFamily="34" charset="-120"/>
              </a:rPr>
              <a:t>Aa</a:t>
            </a:r>
            <a:endParaRPr lang="en-US" sz="4800" dirty="0"/>
          </a:p>
        </p:txBody>
      </p:sp>
      <p:sp>
        <p:nvSpPr>
          <p:cNvPr id="11" name="Text 9"/>
          <p:cNvSpPr txBox="1"/>
          <p:nvPr/>
        </p:nvSpPr>
        <p:spPr>
          <a:xfrm>
            <a:off x="2468880" y="3566160"/>
            <a:ext cx="3657600" cy="365760"/>
          </a:xfrm>
          <a:prstGeom prst="rect">
            <a:avLst/>
          </a:prstGeom>
          <a:noFill/>
          <a:ln/>
        </p:spPr>
        <p:txBody>
          <a:bodyPr wrap="square" lIns="0" tIns="0" rIns="0" bIns="0" rtlCol="0" anchor="ctr"/>
          <a:lstStyle/>
          <a:p>
            <a:pPr marL="0" indent="0">
              <a:buNone/>
            </a:pPr>
            <a:r>
              <a:rPr lang="en-US" sz="1600" b="1" i="1" dirty="0">
                <a:solidFill>
                  <a:srgbClr val="A8863A"/>
                </a:solidFill>
                <a:latin typeface="Cambria" pitchFamily="34" charset="0"/>
                <a:ea typeface="Cambria" pitchFamily="34" charset="-122"/>
                <a:cs typeface="Cambria" pitchFamily="34" charset="-120"/>
              </a:rPr>
              <a:t>Cambria Italic</a:t>
            </a:r>
            <a:endParaRPr lang="en-US" sz="1600" dirty="0"/>
          </a:p>
        </p:txBody>
      </p:sp>
      <p:sp>
        <p:nvSpPr>
          <p:cNvPr id="12" name="Text 10"/>
          <p:cNvSpPr txBox="1"/>
          <p:nvPr/>
        </p:nvSpPr>
        <p:spPr>
          <a:xfrm>
            <a:off x="2468880" y="3931920"/>
            <a:ext cx="4572000" cy="320040"/>
          </a:xfrm>
          <a:prstGeom prst="rect">
            <a:avLst/>
          </a:prstGeom>
          <a:noFill/>
          <a:ln/>
        </p:spPr>
        <p:txBody>
          <a:bodyPr wrap="square" lIns="0" tIns="0" rIns="0" bIns="0" rtlCol="0" anchor="ctr"/>
          <a:lstStyle/>
          <a:p>
            <a:pPr marL="0" indent="0">
              <a:buNone/>
            </a:pPr>
            <a:r>
              <a:rPr lang="en-US" sz="1050" dirty="0">
                <a:solidFill>
                  <a:srgbClr val="6B6B6B"/>
                </a:solidFill>
                <a:latin typeface="Calibri" pitchFamily="34" charset="0"/>
                <a:ea typeface="Calibri" pitchFamily="34" charset="-122"/>
                <a:cs typeface="Calibri" pitchFamily="34" charset="-120"/>
              </a:rPr>
              <a:t>Taglines, quotes &amp; the “Properties” accent</a:t>
            </a:r>
            <a:endParaRPr lang="en-US" sz="1050" dirty="0"/>
          </a:p>
        </p:txBody>
      </p:sp>
      <p:sp>
        <p:nvSpPr>
          <p:cNvPr id="13" name="Text 11"/>
          <p:cNvSpPr txBox="1"/>
          <p:nvPr/>
        </p:nvSpPr>
        <p:spPr>
          <a:xfrm>
            <a:off x="2468880" y="4315968"/>
            <a:ext cx="8778240" cy="411480"/>
          </a:xfrm>
          <a:prstGeom prst="rect">
            <a:avLst/>
          </a:prstGeom>
          <a:noFill/>
          <a:ln/>
        </p:spPr>
        <p:txBody>
          <a:bodyPr wrap="square" lIns="0" tIns="0" rIns="0" bIns="0" rtlCol="0" anchor="ctr"/>
          <a:lstStyle/>
          <a:p>
            <a:pPr marL="0" indent="0">
              <a:buNone/>
            </a:pPr>
            <a:r>
              <a:rPr lang="en-US" sz="1800" i="1" dirty="0">
                <a:solidFill>
                  <a:srgbClr val="031B35"/>
                </a:solidFill>
                <a:latin typeface="Cambria" pitchFamily="34" charset="0"/>
                <a:ea typeface="Cambria" pitchFamily="34" charset="-122"/>
                <a:cs typeface="Cambria" pitchFamily="34" charset="-120"/>
              </a:rPr>
              <a:t>Distinction, delivered discreetly.</a:t>
            </a:r>
            <a:endParaRPr lang="en-US" sz="1800" dirty="0"/>
          </a:p>
        </p:txBody>
      </p:sp>
      <p:sp>
        <p:nvSpPr>
          <p:cNvPr id="14" name="Shape 12"/>
          <p:cNvSpPr/>
          <p:nvPr/>
        </p:nvSpPr>
        <p:spPr>
          <a:xfrm>
            <a:off x="640080" y="4937760"/>
            <a:ext cx="10881360" cy="1417320"/>
          </a:xfrm>
          <a:prstGeom prst="rect">
            <a:avLst/>
          </a:prstGeom>
          <a:solidFill>
            <a:srgbClr val="FFFFFF"/>
          </a:solidFill>
          <a:ln w="9525">
            <a:solidFill>
              <a:srgbClr val="E4DDC8"/>
            </a:solidFill>
            <a:prstDash val="solid"/>
          </a:ln>
        </p:spPr>
      </p:sp>
      <p:sp>
        <p:nvSpPr>
          <p:cNvPr id="15" name="Text 13"/>
          <p:cNvSpPr txBox="1"/>
          <p:nvPr/>
        </p:nvSpPr>
        <p:spPr>
          <a:xfrm>
            <a:off x="868680" y="5029200"/>
            <a:ext cx="1463040" cy="1234440"/>
          </a:xfrm>
          <a:prstGeom prst="rect">
            <a:avLst/>
          </a:prstGeom>
          <a:noFill/>
          <a:ln/>
        </p:spPr>
        <p:txBody>
          <a:bodyPr wrap="square" lIns="0" tIns="0" rIns="0" bIns="0" rtlCol="0" anchor="ctr"/>
          <a:lstStyle/>
          <a:p>
            <a:pPr marL="0" indent="0">
              <a:buNone/>
            </a:pPr>
            <a:r>
              <a:rPr lang="en-US" sz="4800" dirty="0">
                <a:solidFill>
                  <a:srgbClr val="2B2B2B"/>
                </a:solidFill>
                <a:latin typeface="Calibri" pitchFamily="34" charset="0"/>
                <a:ea typeface="Calibri" pitchFamily="34" charset="-122"/>
                <a:cs typeface="Calibri" pitchFamily="34" charset="-120"/>
              </a:rPr>
              <a:t>Aa</a:t>
            </a:r>
            <a:endParaRPr lang="en-US" sz="4800" dirty="0"/>
          </a:p>
        </p:txBody>
      </p:sp>
      <p:sp>
        <p:nvSpPr>
          <p:cNvPr id="16" name="Text 14"/>
          <p:cNvSpPr txBox="1"/>
          <p:nvPr/>
        </p:nvSpPr>
        <p:spPr>
          <a:xfrm>
            <a:off x="2468880" y="5120640"/>
            <a:ext cx="3657600" cy="365760"/>
          </a:xfrm>
          <a:prstGeom prst="rect">
            <a:avLst/>
          </a:prstGeom>
          <a:noFill/>
          <a:ln/>
        </p:spPr>
        <p:txBody>
          <a:bodyPr wrap="square" lIns="0" tIns="0" rIns="0" bIns="0" rtlCol="0" anchor="ctr"/>
          <a:lstStyle/>
          <a:p>
            <a:pPr marL="0" indent="0">
              <a:buNone/>
            </a:pPr>
            <a:r>
              <a:rPr lang="en-US" sz="1600" b="1" dirty="0">
                <a:solidFill>
                  <a:srgbClr val="2B2B2B"/>
                </a:solidFill>
                <a:latin typeface="Calibri" pitchFamily="34" charset="0"/>
                <a:ea typeface="Calibri" pitchFamily="34" charset="-122"/>
                <a:cs typeface="Calibri" pitchFamily="34" charset="-120"/>
              </a:rPr>
              <a:t>Calibri</a:t>
            </a:r>
            <a:endParaRPr lang="en-US" sz="1600" dirty="0"/>
          </a:p>
        </p:txBody>
      </p:sp>
      <p:sp>
        <p:nvSpPr>
          <p:cNvPr id="17" name="Text 15"/>
          <p:cNvSpPr txBox="1"/>
          <p:nvPr/>
        </p:nvSpPr>
        <p:spPr>
          <a:xfrm>
            <a:off x="2468880" y="5486400"/>
            <a:ext cx="5486400" cy="320040"/>
          </a:xfrm>
          <a:prstGeom prst="rect">
            <a:avLst/>
          </a:prstGeom>
          <a:noFill/>
          <a:ln/>
        </p:spPr>
        <p:txBody>
          <a:bodyPr wrap="square" lIns="0" tIns="0" rIns="0" bIns="0" rtlCol="0" anchor="ctr"/>
          <a:lstStyle/>
          <a:p>
            <a:pPr marL="0" indent="0">
              <a:buNone/>
            </a:pPr>
            <a:r>
              <a:rPr lang="en-US" sz="1050" dirty="0">
                <a:solidFill>
                  <a:srgbClr val="6B6B6B"/>
                </a:solidFill>
                <a:latin typeface="Calibri" pitchFamily="34" charset="0"/>
                <a:ea typeface="Calibri" pitchFamily="34" charset="-122"/>
                <a:cs typeface="Calibri" pitchFamily="34" charset="-120"/>
              </a:rPr>
              <a:t>Body copy, letters, business documents · Regular / Bold</a:t>
            </a:r>
            <a:endParaRPr lang="en-US" sz="1050" dirty="0"/>
          </a:p>
        </p:txBody>
      </p:sp>
      <p:sp>
        <p:nvSpPr>
          <p:cNvPr id="18" name="Text 16"/>
          <p:cNvSpPr txBox="1"/>
          <p:nvPr/>
        </p:nvSpPr>
        <p:spPr>
          <a:xfrm>
            <a:off x="2468880" y="5852160"/>
            <a:ext cx="8778240" cy="457200"/>
          </a:xfrm>
          <a:prstGeom prst="rect">
            <a:avLst/>
          </a:prstGeom>
          <a:noFill/>
          <a:ln/>
        </p:spPr>
        <p:txBody>
          <a:bodyPr wrap="square" lIns="0" tIns="0" rIns="0" bIns="0" rtlCol="0" anchor="ctr"/>
          <a:lstStyle/>
          <a:p>
            <a:pPr marL="0" indent="0">
              <a:buNone/>
            </a:pPr>
            <a:r>
              <a:rPr lang="en-US" sz="1200" dirty="0">
                <a:solidFill>
                  <a:srgbClr val="2B2B2B"/>
                </a:solidFill>
                <a:latin typeface="Calibri" pitchFamily="34" charset="0"/>
                <a:ea typeface="Calibri" pitchFamily="34" charset="-122"/>
                <a:cs typeface="Calibri" pitchFamily="34" charset="-120"/>
              </a:rPr>
              <a:t>We market properties for real estate hallmarks, building trust and a full-service standard, house by house.</a:t>
            </a:r>
            <a:endParaRPr lang="en-US" sz="1200" dirty="0"/>
          </a:p>
        </p:txBody>
      </p:sp>
      <p:sp>
        <p:nvSpPr>
          <p:cNvPr id="19" name="Text 17"/>
          <p:cNvSpPr txBox="1"/>
          <p:nvPr/>
        </p:nvSpPr>
        <p:spPr>
          <a:xfrm>
            <a:off x="11548872" y="6446520"/>
            <a:ext cx="365760" cy="274320"/>
          </a:xfrm>
          <a:prstGeom prst="rect">
            <a:avLst/>
          </a:prstGeom>
          <a:noFill/>
          <a:ln/>
        </p:spPr>
        <p:txBody>
          <a:bodyPr wrap="square" lIns="0" tIns="0" rIns="0" bIns="0"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C662BF31-48AD-B1F0-20A7-9EF2C586BAEA}"/>
              </a:ext>
            </a:extLst>
          </p:cNvPr>
          <p:cNvPicPr>
            <a:picLocks noChangeAspect="1"/>
          </p:cNvPicPr>
          <p:nvPr/>
        </p:nvPicPr>
        <p:blipFill>
          <a:blip r:embed="rId3"/>
          <a:stretch>
            <a:fillRect/>
          </a:stretch>
        </p:blipFill>
        <p:spPr>
          <a:xfrm>
            <a:off x="3047998" y="-1"/>
            <a:ext cx="9144001" cy="6858001"/>
          </a:xfrm>
          <a:prstGeom prst="rect">
            <a:avLst/>
          </a:prstGeom>
        </p:spPr>
      </p:pic>
      <p:sp>
        <p:nvSpPr>
          <p:cNvPr id="2" name="Text 0"/>
          <p:cNvSpPr txBox="1"/>
          <p:nvPr/>
        </p:nvSpPr>
        <p:spPr>
          <a:xfrm>
            <a:off x="288387" y="502920"/>
            <a:ext cx="7315200" cy="320040"/>
          </a:xfrm>
          <a:prstGeom prst="rect">
            <a:avLst/>
          </a:prstGeom>
          <a:noFill/>
          <a:ln/>
        </p:spPr>
        <p:txBody>
          <a:bodyPr wrap="square" lIns="0" tIns="0" rIns="0" bIns="0" rtlCol="0" anchor="ctr"/>
          <a:lstStyle/>
          <a:p>
            <a:pPr marL="0" indent="0">
              <a:buNone/>
            </a:pPr>
            <a:r>
              <a:rPr lang="en-US" sz="1200" b="1" kern="0" spc="300" dirty="0">
                <a:solidFill>
                  <a:srgbClr val="A8863A"/>
                </a:solidFill>
                <a:latin typeface="Calibri" pitchFamily="34" charset="0"/>
                <a:ea typeface="Calibri" pitchFamily="34" charset="-122"/>
                <a:cs typeface="Calibri" pitchFamily="34" charset="-120"/>
              </a:rPr>
              <a:t>APPLICATION</a:t>
            </a:r>
            <a:endParaRPr lang="en-US" sz="1200" dirty="0"/>
          </a:p>
        </p:txBody>
      </p:sp>
      <p:sp>
        <p:nvSpPr>
          <p:cNvPr id="3" name="Text 1"/>
          <p:cNvSpPr txBox="1"/>
          <p:nvPr/>
        </p:nvSpPr>
        <p:spPr>
          <a:xfrm>
            <a:off x="288387" y="868680"/>
            <a:ext cx="9144000" cy="640080"/>
          </a:xfrm>
          <a:prstGeom prst="rect">
            <a:avLst/>
          </a:prstGeom>
          <a:noFill/>
          <a:ln/>
        </p:spPr>
        <p:txBody>
          <a:bodyPr wrap="square" lIns="0" tIns="0" rIns="0" bIns="0" rtlCol="0" anchor="ctr"/>
          <a:lstStyle/>
          <a:p>
            <a:pPr marL="0" indent="0">
              <a:buNone/>
            </a:pPr>
            <a:r>
              <a:rPr lang="en-US" sz="3200" b="1" dirty="0">
                <a:solidFill>
                  <a:srgbClr val="031B35"/>
                </a:solidFill>
                <a:latin typeface="Cambria" pitchFamily="34" charset="0"/>
                <a:ea typeface="Cambria" pitchFamily="34" charset="-122"/>
                <a:cs typeface="Cambria" pitchFamily="34" charset="-120"/>
              </a:rPr>
              <a:t>Business card</a:t>
            </a:r>
            <a:endParaRPr lang="en-US" sz="3200" dirty="0"/>
          </a:p>
        </p:txBody>
      </p:sp>
      <p:sp>
        <p:nvSpPr>
          <p:cNvPr id="4" name="Text 2"/>
          <p:cNvSpPr txBox="1"/>
          <p:nvPr/>
        </p:nvSpPr>
        <p:spPr>
          <a:xfrm>
            <a:off x="288387" y="1508760"/>
            <a:ext cx="2759612" cy="770206"/>
          </a:xfrm>
          <a:prstGeom prst="rect">
            <a:avLst/>
          </a:prstGeom>
          <a:noFill/>
          <a:ln/>
        </p:spPr>
        <p:txBody>
          <a:bodyPr wrap="square" lIns="0" tIns="0" rIns="0" bIns="0" rtlCol="0" anchor="ctr"/>
          <a:lstStyle/>
          <a:p>
            <a:pPr marL="0" indent="0">
              <a:buNone/>
            </a:pPr>
            <a:r>
              <a:rPr lang="en-US" sz="1200" dirty="0">
                <a:solidFill>
                  <a:srgbClr val="6B6B6B"/>
                </a:solidFill>
                <a:latin typeface="Calibri" pitchFamily="34" charset="0"/>
                <a:ea typeface="Calibri" pitchFamily="34" charset="-122"/>
                <a:cs typeface="Calibri" pitchFamily="34" charset="-120"/>
              </a:rPr>
              <a:t>3.5″ × 2″ · front reversed on navy, back in </a:t>
            </a:r>
          </a:p>
          <a:p>
            <a:pPr marL="0" indent="0">
              <a:buNone/>
            </a:pPr>
            <a:r>
              <a:rPr lang="en-US" sz="1200" dirty="0">
                <a:solidFill>
                  <a:srgbClr val="6B6B6B"/>
                </a:solidFill>
                <a:latin typeface="Calibri" pitchFamily="34" charset="0"/>
                <a:ea typeface="Calibri" pitchFamily="34" charset="-122"/>
                <a:cs typeface="Calibri" pitchFamily="34" charset="-120"/>
              </a:rPr>
              <a:t>the light palette with the emblem and a </a:t>
            </a:r>
          </a:p>
          <a:p>
            <a:pPr marL="0" indent="0">
              <a:buNone/>
            </a:pPr>
            <a:r>
              <a:rPr lang="en-US" sz="1200" dirty="0">
                <a:solidFill>
                  <a:srgbClr val="6B6B6B"/>
                </a:solidFill>
                <a:latin typeface="Calibri" pitchFamily="34" charset="0"/>
                <a:ea typeface="Calibri" pitchFamily="34" charset="-122"/>
                <a:cs typeface="Calibri" pitchFamily="34" charset="-120"/>
              </a:rPr>
              <a:t>scannable QR code.</a:t>
            </a:r>
            <a:endParaRPr lang="en-US" sz="1200" dirty="0"/>
          </a:p>
        </p:txBody>
      </p:sp>
      <p:sp>
        <p:nvSpPr>
          <p:cNvPr id="19" name="Text 15"/>
          <p:cNvSpPr txBox="1"/>
          <p:nvPr/>
        </p:nvSpPr>
        <p:spPr>
          <a:xfrm>
            <a:off x="11548872" y="6446520"/>
            <a:ext cx="365760" cy="274320"/>
          </a:xfrm>
          <a:prstGeom prst="rect">
            <a:avLst/>
          </a:prstGeom>
          <a:noFill/>
          <a:ln/>
        </p:spPr>
        <p:txBody>
          <a:bodyPr wrap="square" lIns="0" tIns="0" rIns="0" bIns="0"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F7F4EA"/>
          </a:solidFill>
          <a:ln/>
        </p:spPr>
      </p:sp>
      <p:sp>
        <p:nvSpPr>
          <p:cNvPr id="3" name="Text 1"/>
          <p:cNvSpPr txBox="1"/>
          <p:nvPr/>
        </p:nvSpPr>
        <p:spPr>
          <a:xfrm>
            <a:off x="457200" y="502920"/>
            <a:ext cx="3474720" cy="320040"/>
          </a:xfrm>
          <a:prstGeom prst="rect">
            <a:avLst/>
          </a:prstGeom>
          <a:noFill/>
          <a:ln/>
        </p:spPr>
        <p:txBody>
          <a:bodyPr wrap="square" lIns="0" tIns="0" rIns="0" bIns="0" rtlCol="0" anchor="ctr"/>
          <a:lstStyle/>
          <a:p>
            <a:pPr marL="0" indent="0">
              <a:buNone/>
            </a:pPr>
            <a:r>
              <a:rPr lang="en-US" sz="1200" b="1" kern="0" spc="300" dirty="0">
                <a:solidFill>
                  <a:srgbClr val="A8863A"/>
                </a:solidFill>
                <a:latin typeface="Calibri" pitchFamily="34" charset="0"/>
                <a:ea typeface="Calibri" pitchFamily="34" charset="-122"/>
                <a:cs typeface="Calibri" pitchFamily="34" charset="-120"/>
              </a:rPr>
              <a:t>APPLICATION</a:t>
            </a:r>
            <a:endParaRPr lang="en-US" sz="1200" dirty="0"/>
          </a:p>
        </p:txBody>
      </p:sp>
      <p:sp>
        <p:nvSpPr>
          <p:cNvPr id="4" name="Text 2"/>
          <p:cNvSpPr txBox="1"/>
          <p:nvPr/>
        </p:nvSpPr>
        <p:spPr>
          <a:xfrm>
            <a:off x="457200" y="868680"/>
            <a:ext cx="3474720" cy="822960"/>
          </a:xfrm>
          <a:prstGeom prst="rect">
            <a:avLst/>
          </a:prstGeom>
          <a:noFill/>
          <a:ln/>
        </p:spPr>
        <p:txBody>
          <a:bodyPr wrap="square" lIns="0" tIns="0" rIns="0" bIns="0" rtlCol="0" anchor="ctr"/>
          <a:lstStyle/>
          <a:p>
            <a:pPr marL="0" indent="0">
              <a:buNone/>
            </a:pPr>
            <a:r>
              <a:rPr lang="en-US" sz="2600" b="1" dirty="0">
                <a:solidFill>
                  <a:srgbClr val="031B35"/>
                </a:solidFill>
                <a:latin typeface="Cambria" pitchFamily="34" charset="0"/>
                <a:ea typeface="Cambria" pitchFamily="34" charset="-122"/>
                <a:cs typeface="Cambria" pitchFamily="34" charset="-120"/>
              </a:rPr>
              <a:t>Letterhead</a:t>
            </a:r>
            <a:endParaRPr lang="en-US" sz="2600" dirty="0"/>
          </a:p>
        </p:txBody>
      </p:sp>
      <p:sp>
        <p:nvSpPr>
          <p:cNvPr id="5" name="Text 3"/>
          <p:cNvSpPr txBox="1"/>
          <p:nvPr/>
        </p:nvSpPr>
        <p:spPr>
          <a:xfrm>
            <a:off x="457200" y="1691640"/>
            <a:ext cx="3383280" cy="1188720"/>
          </a:xfrm>
          <a:prstGeom prst="rect">
            <a:avLst/>
          </a:prstGeom>
          <a:noFill/>
          <a:ln/>
        </p:spPr>
        <p:txBody>
          <a:bodyPr wrap="square" lIns="0" tIns="0" rIns="0" bIns="0" rtlCol="0" anchor="ctr"/>
          <a:lstStyle/>
          <a:p>
            <a:pPr marL="0" indent="0">
              <a:lnSpc>
                <a:spcPct val="130000"/>
              </a:lnSpc>
              <a:buNone/>
            </a:pPr>
            <a:r>
              <a:rPr lang="en-US" sz="1100" dirty="0">
                <a:solidFill>
                  <a:srgbClr val="2B2B2B"/>
                </a:solidFill>
                <a:latin typeface="Calibri" pitchFamily="34" charset="0"/>
                <a:ea typeface="Calibri" pitchFamily="34" charset="-122"/>
                <a:cs typeface="Calibri" pitchFamily="34" charset="-120"/>
              </a:rPr>
              <a:t>A4 · the emblem and wordmark sit centered above a fine navy rule; sender details close the page in the same order as the business card.</a:t>
            </a:r>
            <a:endParaRPr lang="en-US" sz="1100" dirty="0"/>
          </a:p>
        </p:txBody>
      </p:sp>
      <p:sp>
        <p:nvSpPr>
          <p:cNvPr id="6" name="Text 4"/>
          <p:cNvSpPr txBox="1"/>
          <p:nvPr/>
        </p:nvSpPr>
        <p:spPr>
          <a:xfrm>
            <a:off x="457200" y="3063240"/>
            <a:ext cx="3383280" cy="731520"/>
          </a:xfrm>
          <a:prstGeom prst="rect">
            <a:avLst/>
          </a:prstGeom>
          <a:noFill/>
          <a:ln/>
        </p:spPr>
        <p:txBody>
          <a:bodyPr wrap="square" lIns="0" tIns="0" rIns="0" bIns="0" rtlCol="0" anchor="ctr"/>
          <a:lstStyle/>
          <a:p>
            <a:pPr marL="0" indent="0">
              <a:lnSpc>
                <a:spcPct val="130000"/>
              </a:lnSpc>
              <a:buNone/>
            </a:pPr>
            <a:r>
              <a:rPr lang="en-US" sz="1000" i="1" dirty="0">
                <a:solidFill>
                  <a:srgbClr val="6B6B6B"/>
                </a:solidFill>
                <a:latin typeface="Calibri" pitchFamily="34" charset="0"/>
                <a:ea typeface="Calibri" pitchFamily="34" charset="-122"/>
                <a:cs typeface="Calibri" pitchFamily="34" charset="-120"/>
              </a:rPr>
              <a:t>Set body copy in Calibri 11pt with 1.15 line spacing and 1″ margins on all sides.</a:t>
            </a:r>
            <a:endParaRPr lang="en-US" sz="1000" dirty="0"/>
          </a:p>
        </p:txBody>
      </p:sp>
      <p:sp>
        <p:nvSpPr>
          <p:cNvPr id="17" name="Text 14"/>
          <p:cNvSpPr txBox="1"/>
          <p:nvPr/>
        </p:nvSpPr>
        <p:spPr>
          <a:xfrm>
            <a:off x="11548872" y="6446520"/>
            <a:ext cx="365760" cy="274320"/>
          </a:xfrm>
          <a:prstGeom prst="rect">
            <a:avLst/>
          </a:prstGeom>
          <a:noFill/>
          <a:ln/>
        </p:spPr>
        <p:txBody>
          <a:bodyPr wrap="square" lIns="0" tIns="0" rIns="0" bIns="0"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12</a:t>
            </a:r>
            <a:endParaRPr lang="en-US" sz="900" dirty="0"/>
          </a:p>
        </p:txBody>
      </p:sp>
      <p:pic>
        <p:nvPicPr>
          <p:cNvPr id="19" name="Picture 18">
            <a:extLst>
              <a:ext uri="{FF2B5EF4-FFF2-40B4-BE49-F238E27FC236}">
                <a16:creationId xmlns:a16="http://schemas.microsoft.com/office/drawing/2014/main" id="{0FFFF340-2BE0-E4BE-726A-65C553D6A0AB}"/>
              </a:ext>
            </a:extLst>
          </p:cNvPr>
          <p:cNvPicPr>
            <a:picLocks noChangeAspect="1"/>
          </p:cNvPicPr>
          <p:nvPr/>
        </p:nvPicPr>
        <p:blipFill>
          <a:blip r:embed="rId3"/>
          <a:stretch>
            <a:fillRect/>
          </a:stretch>
        </p:blipFill>
        <p:spPr>
          <a:xfrm>
            <a:off x="4206240" y="-22860"/>
            <a:ext cx="7985760" cy="690372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640080" y="502920"/>
            <a:ext cx="7315200" cy="320040"/>
          </a:xfrm>
          <a:prstGeom prst="rect">
            <a:avLst/>
          </a:prstGeom>
          <a:noFill/>
          <a:ln/>
        </p:spPr>
        <p:txBody>
          <a:bodyPr wrap="square" lIns="0" tIns="0" rIns="0" bIns="0" rtlCol="0" anchor="ctr"/>
          <a:lstStyle/>
          <a:p>
            <a:pPr marL="0" indent="0">
              <a:buNone/>
            </a:pPr>
            <a:r>
              <a:rPr lang="en-US" sz="1200" b="1" kern="0" spc="300" dirty="0">
                <a:solidFill>
                  <a:srgbClr val="A8863A"/>
                </a:solidFill>
                <a:latin typeface="Calibri" pitchFamily="34" charset="0"/>
                <a:ea typeface="Calibri" pitchFamily="34" charset="-122"/>
                <a:cs typeface="Calibri" pitchFamily="34" charset="-120"/>
              </a:rPr>
              <a:t>APPLICATION</a:t>
            </a:r>
            <a:endParaRPr lang="en-US" sz="1200" dirty="0"/>
          </a:p>
        </p:txBody>
      </p:sp>
      <p:sp>
        <p:nvSpPr>
          <p:cNvPr id="3" name="Text 1"/>
          <p:cNvSpPr txBox="1"/>
          <p:nvPr/>
        </p:nvSpPr>
        <p:spPr>
          <a:xfrm>
            <a:off x="640080" y="868680"/>
            <a:ext cx="9144000" cy="640080"/>
          </a:xfrm>
          <a:prstGeom prst="rect">
            <a:avLst/>
          </a:prstGeom>
          <a:noFill/>
          <a:ln/>
        </p:spPr>
        <p:txBody>
          <a:bodyPr wrap="square" lIns="0" tIns="0" rIns="0" bIns="0" rtlCol="0" anchor="ctr"/>
          <a:lstStyle/>
          <a:p>
            <a:pPr marL="0" indent="0">
              <a:buNone/>
            </a:pPr>
            <a:r>
              <a:rPr lang="en-US" sz="3200" b="1" dirty="0">
                <a:solidFill>
                  <a:srgbClr val="031B35"/>
                </a:solidFill>
                <a:latin typeface="Cambria" pitchFamily="34" charset="0"/>
                <a:ea typeface="Cambria" pitchFamily="34" charset="-122"/>
                <a:cs typeface="Cambria" pitchFamily="34" charset="-120"/>
              </a:rPr>
              <a:t>Email signature</a:t>
            </a:r>
            <a:endParaRPr lang="en-US" sz="3200" dirty="0"/>
          </a:p>
        </p:txBody>
      </p:sp>
      <p:sp>
        <p:nvSpPr>
          <p:cNvPr id="4" name="Text 2"/>
          <p:cNvSpPr txBox="1"/>
          <p:nvPr/>
        </p:nvSpPr>
        <p:spPr>
          <a:xfrm>
            <a:off x="640080" y="1508760"/>
            <a:ext cx="10424160" cy="457200"/>
          </a:xfrm>
          <a:prstGeom prst="rect">
            <a:avLst/>
          </a:prstGeom>
          <a:noFill/>
          <a:ln/>
        </p:spPr>
        <p:txBody>
          <a:bodyPr wrap="square" lIns="0" tIns="0" rIns="0" bIns="0" rtlCol="0" anchor="ctr"/>
          <a:lstStyle/>
          <a:p>
            <a:pPr marL="0" indent="0">
              <a:buNone/>
            </a:pPr>
            <a:r>
              <a:rPr lang="en-US" sz="1200" dirty="0">
                <a:solidFill>
                  <a:srgbClr val="6B6B6B"/>
                </a:solidFill>
                <a:latin typeface="Calibri" pitchFamily="34" charset="0"/>
                <a:ea typeface="Calibri" pitchFamily="34" charset="-122"/>
                <a:cs typeface="Calibri" pitchFamily="34" charset="-120"/>
              </a:rPr>
              <a:t>A single consistent sign-off across the team — emblem left, a navy rule, then name and contact details.</a:t>
            </a:r>
            <a:endParaRPr lang="en-US" sz="1200" dirty="0"/>
          </a:p>
        </p:txBody>
      </p:sp>
      <p:sp>
        <p:nvSpPr>
          <p:cNvPr id="5" name="Shape 3"/>
          <p:cNvSpPr/>
          <p:nvPr/>
        </p:nvSpPr>
        <p:spPr>
          <a:xfrm>
            <a:off x="640080" y="2331720"/>
            <a:ext cx="7863840" cy="1691640"/>
          </a:xfrm>
          <a:prstGeom prst="rect">
            <a:avLst/>
          </a:prstGeom>
          <a:solidFill>
            <a:srgbClr val="FFFFFF"/>
          </a:solidFill>
          <a:ln w="9525">
            <a:solidFill>
              <a:srgbClr val="E4DDC8"/>
            </a:solidFill>
            <a:prstDash val="solid"/>
          </a:ln>
        </p:spPr>
      </p:sp>
      <p:pic>
        <p:nvPicPr>
          <p:cNvPr id="6" name="Image 0" descr="assets/logo_icon_transparent.png"/>
          <p:cNvPicPr>
            <a:picLocks noChangeAspect="1"/>
          </p:cNvPicPr>
          <p:nvPr/>
        </p:nvPicPr>
        <p:blipFill>
          <a:blip r:embed="rId3"/>
          <a:srcRect/>
          <a:stretch/>
        </p:blipFill>
        <p:spPr>
          <a:xfrm>
            <a:off x="1005840" y="2715768"/>
            <a:ext cx="914400" cy="1005840"/>
          </a:xfrm>
          <a:prstGeom prst="rect">
            <a:avLst/>
          </a:prstGeom>
        </p:spPr>
      </p:pic>
      <p:sp>
        <p:nvSpPr>
          <p:cNvPr id="7" name="Shape 4"/>
          <p:cNvSpPr/>
          <p:nvPr/>
        </p:nvSpPr>
        <p:spPr>
          <a:xfrm>
            <a:off x="2286000" y="2651760"/>
            <a:ext cx="914" cy="1051560"/>
          </a:xfrm>
          <a:prstGeom prst="line">
            <a:avLst/>
          </a:prstGeom>
          <a:noFill/>
          <a:ln w="15875">
            <a:solidFill>
              <a:srgbClr val="031B35"/>
            </a:solidFill>
            <a:prstDash val="solid"/>
          </a:ln>
        </p:spPr>
      </p:sp>
      <p:sp>
        <p:nvSpPr>
          <p:cNvPr id="8" name="Text 5"/>
          <p:cNvSpPr txBox="1"/>
          <p:nvPr/>
        </p:nvSpPr>
        <p:spPr>
          <a:xfrm>
            <a:off x="2560320" y="2651760"/>
            <a:ext cx="5486400" cy="320040"/>
          </a:xfrm>
          <a:prstGeom prst="rect">
            <a:avLst/>
          </a:prstGeom>
          <a:noFill/>
          <a:ln/>
        </p:spPr>
        <p:txBody>
          <a:bodyPr wrap="square" lIns="0" tIns="0" rIns="0" bIns="0" rtlCol="0" anchor="ctr"/>
          <a:lstStyle/>
          <a:p>
            <a:pPr marL="0" indent="0">
              <a:buNone/>
            </a:pPr>
            <a:r>
              <a:rPr lang="en-US" sz="1400" b="1" dirty="0">
                <a:solidFill>
                  <a:srgbClr val="031B35"/>
                </a:solidFill>
                <a:latin typeface="Cambria" pitchFamily="34" charset="0"/>
                <a:ea typeface="Cambria" pitchFamily="34" charset="-122"/>
                <a:cs typeface="Cambria" pitchFamily="34" charset="-120"/>
              </a:rPr>
              <a:t>Malcom D. Swanson</a:t>
            </a:r>
            <a:endParaRPr lang="en-US" sz="1400" dirty="0"/>
          </a:p>
        </p:txBody>
      </p:sp>
      <p:sp>
        <p:nvSpPr>
          <p:cNvPr id="9" name="Text 6"/>
          <p:cNvSpPr txBox="1"/>
          <p:nvPr/>
        </p:nvSpPr>
        <p:spPr>
          <a:xfrm>
            <a:off x="2560320" y="2990088"/>
            <a:ext cx="5486400" cy="274320"/>
          </a:xfrm>
          <a:prstGeom prst="rect">
            <a:avLst/>
          </a:prstGeom>
          <a:noFill/>
          <a:ln/>
        </p:spPr>
        <p:txBody>
          <a:bodyPr wrap="square" lIns="0" tIns="0" rIns="0" bIns="0" rtlCol="0" anchor="ctr"/>
          <a:lstStyle/>
          <a:p>
            <a:pPr marL="0" indent="0">
              <a:buNone/>
            </a:pPr>
            <a:r>
              <a:rPr lang="en-US" sz="1050" i="1" dirty="0">
                <a:solidFill>
                  <a:srgbClr val="A8863A"/>
                </a:solidFill>
                <a:latin typeface="Calibri" pitchFamily="34" charset="0"/>
                <a:ea typeface="Calibri" pitchFamily="34" charset="-122"/>
                <a:cs typeface="Calibri" pitchFamily="34" charset="-120"/>
              </a:rPr>
              <a:t>Operations Manager  |  Khalid Al Mansoori Properties</a:t>
            </a:r>
            <a:endParaRPr lang="en-US" sz="1050" dirty="0"/>
          </a:p>
        </p:txBody>
      </p:sp>
      <p:sp>
        <p:nvSpPr>
          <p:cNvPr id="10" name="Text 7"/>
          <p:cNvSpPr txBox="1"/>
          <p:nvPr/>
        </p:nvSpPr>
        <p:spPr>
          <a:xfrm>
            <a:off x="2560320" y="3337560"/>
            <a:ext cx="5486400" cy="274320"/>
          </a:xfrm>
          <a:prstGeom prst="rect">
            <a:avLst/>
          </a:prstGeom>
          <a:noFill/>
          <a:ln/>
        </p:spPr>
        <p:txBody>
          <a:bodyPr wrap="square" lIns="0" tIns="0" rIns="0" bIns="0" rtlCol="0" anchor="ctr"/>
          <a:lstStyle/>
          <a:p>
            <a:pPr marL="0" indent="0">
              <a:buNone/>
            </a:pPr>
            <a:r>
              <a:rPr lang="en-US" sz="950" dirty="0">
                <a:solidFill>
                  <a:srgbClr val="2B2B2B"/>
                </a:solidFill>
                <a:latin typeface="Calibri" pitchFamily="34" charset="0"/>
                <a:ea typeface="Calibri" pitchFamily="34" charset="-122"/>
                <a:cs typeface="Calibri" pitchFamily="34" charset="-120"/>
              </a:rPr>
              <a:t>T +971 4 987 6543   M +971 4 123 4567</a:t>
            </a:r>
            <a:endParaRPr lang="en-US" sz="950" dirty="0"/>
          </a:p>
        </p:txBody>
      </p:sp>
      <p:sp>
        <p:nvSpPr>
          <p:cNvPr id="11" name="Text 8"/>
          <p:cNvSpPr txBox="1"/>
          <p:nvPr/>
        </p:nvSpPr>
        <p:spPr>
          <a:xfrm>
            <a:off x="2560320" y="3593592"/>
            <a:ext cx="5486400" cy="274320"/>
          </a:xfrm>
          <a:prstGeom prst="rect">
            <a:avLst/>
          </a:prstGeom>
          <a:noFill/>
          <a:ln/>
        </p:spPr>
        <p:txBody>
          <a:bodyPr wrap="square" lIns="0" tIns="0" rIns="0" bIns="0" rtlCol="0" anchor="ctr"/>
          <a:lstStyle/>
          <a:p>
            <a:pPr marL="0" indent="0">
              <a:buNone/>
            </a:pPr>
            <a:r>
              <a:rPr lang="en-US" sz="950" dirty="0">
                <a:solidFill>
                  <a:srgbClr val="2B2B2B"/>
                </a:solidFill>
                <a:latin typeface="Calibri" pitchFamily="34" charset="0"/>
                <a:ea typeface="Calibri" pitchFamily="34" charset="-122"/>
                <a:cs typeface="Calibri" pitchFamily="34" charset="-120"/>
              </a:rPr>
              <a:t>malcom.swanson@kamp.com   ·   www.kamp.com</a:t>
            </a:r>
            <a:endParaRPr lang="en-US" sz="950" dirty="0"/>
          </a:p>
        </p:txBody>
      </p:sp>
      <p:sp>
        <p:nvSpPr>
          <p:cNvPr id="12" name="Text 9"/>
          <p:cNvSpPr txBox="1"/>
          <p:nvPr/>
        </p:nvSpPr>
        <p:spPr>
          <a:xfrm>
            <a:off x="640080" y="4343400"/>
            <a:ext cx="3657600" cy="320040"/>
          </a:xfrm>
          <a:prstGeom prst="rect">
            <a:avLst/>
          </a:prstGeom>
          <a:noFill/>
          <a:ln/>
        </p:spPr>
        <p:txBody>
          <a:bodyPr wrap="square" lIns="0" tIns="0" rIns="0" bIns="0" rtlCol="0" anchor="ctr"/>
          <a:lstStyle/>
          <a:p>
            <a:pPr marL="0" indent="0">
              <a:buNone/>
            </a:pPr>
            <a:r>
              <a:rPr lang="en-US" sz="1400" b="1" dirty="0">
                <a:solidFill>
                  <a:srgbClr val="031B35"/>
                </a:solidFill>
                <a:latin typeface="Cambria" pitchFamily="34" charset="0"/>
                <a:ea typeface="Cambria" pitchFamily="34" charset="-122"/>
                <a:cs typeface="Cambria" pitchFamily="34" charset="-120"/>
              </a:rPr>
              <a:t>Guidelines</a:t>
            </a:r>
            <a:endParaRPr lang="en-US" sz="1400" dirty="0"/>
          </a:p>
        </p:txBody>
      </p:sp>
      <p:sp>
        <p:nvSpPr>
          <p:cNvPr id="13" name="Text 10"/>
          <p:cNvSpPr txBox="1"/>
          <p:nvPr/>
        </p:nvSpPr>
        <p:spPr>
          <a:xfrm>
            <a:off x="640080" y="4754880"/>
            <a:ext cx="274320" cy="320040"/>
          </a:xfrm>
          <a:prstGeom prst="rect">
            <a:avLst/>
          </a:prstGeom>
          <a:noFill/>
          <a:ln/>
        </p:spPr>
        <p:txBody>
          <a:bodyPr wrap="square" lIns="0" tIns="0" rIns="0" bIns="0" rtlCol="0" anchor="ctr"/>
          <a:lstStyle/>
          <a:p>
            <a:pPr marL="0" indent="0">
              <a:buNone/>
            </a:pPr>
            <a:r>
              <a:rPr lang="en-US" sz="1100" dirty="0">
                <a:solidFill>
                  <a:srgbClr val="A8863A"/>
                </a:solidFill>
                <a:latin typeface="Calibri" pitchFamily="34" charset="0"/>
                <a:ea typeface="Calibri" pitchFamily="34" charset="-122"/>
                <a:cs typeface="Calibri" pitchFamily="34" charset="-120"/>
              </a:rPr>
              <a:t>—</a:t>
            </a:r>
            <a:endParaRPr lang="en-US" sz="1100" dirty="0"/>
          </a:p>
        </p:txBody>
      </p:sp>
      <p:sp>
        <p:nvSpPr>
          <p:cNvPr id="14" name="Text 11"/>
          <p:cNvSpPr txBox="1"/>
          <p:nvPr/>
        </p:nvSpPr>
        <p:spPr>
          <a:xfrm>
            <a:off x="960120" y="4754880"/>
            <a:ext cx="10058400" cy="365760"/>
          </a:xfrm>
          <a:prstGeom prst="rect">
            <a:avLst/>
          </a:prstGeom>
          <a:noFill/>
          <a:ln/>
        </p:spPr>
        <p:txBody>
          <a:bodyPr wrap="square" lIns="0" tIns="0" rIns="0" bIns="0" rtlCol="0" anchor="ctr"/>
          <a:lstStyle/>
          <a:p>
            <a:pPr marL="0" indent="0">
              <a:buNone/>
            </a:pPr>
            <a:r>
              <a:rPr lang="en-US" sz="1100" dirty="0">
                <a:solidFill>
                  <a:srgbClr val="2B2B2B"/>
                </a:solidFill>
                <a:latin typeface="Calibri" pitchFamily="34" charset="0"/>
                <a:ea typeface="Calibri" pitchFamily="34" charset="-122"/>
                <a:cs typeface="Calibri" pitchFamily="34" charset="-120"/>
              </a:rPr>
              <a:t>Emblem at 0.8″ tall, left-aligned; never resize independently of the rule.</a:t>
            </a:r>
            <a:endParaRPr lang="en-US" sz="1100" dirty="0"/>
          </a:p>
        </p:txBody>
      </p:sp>
      <p:sp>
        <p:nvSpPr>
          <p:cNvPr id="15" name="Text 12"/>
          <p:cNvSpPr txBox="1"/>
          <p:nvPr/>
        </p:nvSpPr>
        <p:spPr>
          <a:xfrm>
            <a:off x="640080" y="5138928"/>
            <a:ext cx="274320" cy="320040"/>
          </a:xfrm>
          <a:prstGeom prst="rect">
            <a:avLst/>
          </a:prstGeom>
          <a:noFill/>
          <a:ln/>
        </p:spPr>
        <p:txBody>
          <a:bodyPr wrap="square" lIns="0" tIns="0" rIns="0" bIns="0" rtlCol="0" anchor="ctr"/>
          <a:lstStyle/>
          <a:p>
            <a:pPr marL="0" indent="0">
              <a:buNone/>
            </a:pPr>
            <a:r>
              <a:rPr lang="en-US" sz="1100" dirty="0">
                <a:solidFill>
                  <a:srgbClr val="A8863A"/>
                </a:solidFill>
                <a:latin typeface="Calibri" pitchFamily="34" charset="0"/>
                <a:ea typeface="Calibri" pitchFamily="34" charset="-122"/>
                <a:cs typeface="Calibri" pitchFamily="34" charset="-120"/>
              </a:rPr>
              <a:t>—</a:t>
            </a:r>
            <a:endParaRPr lang="en-US" sz="1100" dirty="0"/>
          </a:p>
        </p:txBody>
      </p:sp>
      <p:sp>
        <p:nvSpPr>
          <p:cNvPr id="16" name="Text 13"/>
          <p:cNvSpPr txBox="1"/>
          <p:nvPr/>
        </p:nvSpPr>
        <p:spPr>
          <a:xfrm>
            <a:off x="960120" y="5138928"/>
            <a:ext cx="10058400" cy="365760"/>
          </a:xfrm>
          <a:prstGeom prst="rect">
            <a:avLst/>
          </a:prstGeom>
          <a:noFill/>
          <a:ln/>
        </p:spPr>
        <p:txBody>
          <a:bodyPr wrap="square" lIns="0" tIns="0" rIns="0" bIns="0" rtlCol="0" anchor="ctr"/>
          <a:lstStyle/>
          <a:p>
            <a:pPr marL="0" indent="0">
              <a:buNone/>
            </a:pPr>
            <a:r>
              <a:rPr lang="en-US" sz="1100" dirty="0">
                <a:solidFill>
                  <a:srgbClr val="2B2B2B"/>
                </a:solidFill>
                <a:latin typeface="Calibri" pitchFamily="34" charset="0"/>
                <a:ea typeface="Calibri" pitchFamily="34" charset="-122"/>
                <a:cs typeface="Calibri" pitchFamily="34" charset="-120"/>
              </a:rPr>
              <a:t>Name in Cambria Bold, title in Cambria Italic, gold (C8A74C).</a:t>
            </a:r>
            <a:endParaRPr lang="en-US" sz="1100" dirty="0"/>
          </a:p>
        </p:txBody>
      </p:sp>
      <p:sp>
        <p:nvSpPr>
          <p:cNvPr id="17" name="Text 14"/>
          <p:cNvSpPr txBox="1"/>
          <p:nvPr/>
        </p:nvSpPr>
        <p:spPr>
          <a:xfrm>
            <a:off x="640080" y="5522976"/>
            <a:ext cx="274320" cy="320040"/>
          </a:xfrm>
          <a:prstGeom prst="rect">
            <a:avLst/>
          </a:prstGeom>
          <a:noFill/>
          <a:ln/>
        </p:spPr>
        <p:txBody>
          <a:bodyPr wrap="square" lIns="0" tIns="0" rIns="0" bIns="0" rtlCol="0" anchor="ctr"/>
          <a:lstStyle/>
          <a:p>
            <a:pPr marL="0" indent="0">
              <a:buNone/>
            </a:pPr>
            <a:r>
              <a:rPr lang="en-US" sz="1100" dirty="0">
                <a:solidFill>
                  <a:srgbClr val="A8863A"/>
                </a:solidFill>
                <a:latin typeface="Calibri" pitchFamily="34" charset="0"/>
                <a:ea typeface="Calibri" pitchFamily="34" charset="-122"/>
                <a:cs typeface="Calibri" pitchFamily="34" charset="-120"/>
              </a:rPr>
              <a:t>—</a:t>
            </a:r>
            <a:endParaRPr lang="en-US" sz="1100" dirty="0"/>
          </a:p>
        </p:txBody>
      </p:sp>
      <p:sp>
        <p:nvSpPr>
          <p:cNvPr id="18" name="Text 15"/>
          <p:cNvSpPr txBox="1"/>
          <p:nvPr/>
        </p:nvSpPr>
        <p:spPr>
          <a:xfrm>
            <a:off x="960120" y="5522976"/>
            <a:ext cx="10058400" cy="365760"/>
          </a:xfrm>
          <a:prstGeom prst="rect">
            <a:avLst/>
          </a:prstGeom>
          <a:noFill/>
          <a:ln/>
        </p:spPr>
        <p:txBody>
          <a:bodyPr wrap="square" lIns="0" tIns="0" rIns="0" bIns="0" rtlCol="0" anchor="ctr"/>
          <a:lstStyle/>
          <a:p>
            <a:pPr marL="0" indent="0">
              <a:buNone/>
            </a:pPr>
            <a:r>
              <a:rPr lang="en-US" sz="1100" dirty="0">
                <a:solidFill>
                  <a:srgbClr val="2B2B2B"/>
                </a:solidFill>
                <a:latin typeface="Calibri" pitchFamily="34" charset="0"/>
                <a:ea typeface="Calibri" pitchFamily="34" charset="-122"/>
                <a:cs typeface="Calibri" pitchFamily="34" charset="-120"/>
              </a:rPr>
              <a:t>Contact lines in Calibri, charcoal (2B2B2B), no hyperlink underlines on phone numbers.</a:t>
            </a:r>
            <a:endParaRPr lang="en-US" sz="1100" dirty="0"/>
          </a:p>
        </p:txBody>
      </p:sp>
      <p:sp>
        <p:nvSpPr>
          <p:cNvPr id="19" name="Text 16"/>
          <p:cNvSpPr txBox="1"/>
          <p:nvPr/>
        </p:nvSpPr>
        <p:spPr>
          <a:xfrm>
            <a:off x="640080" y="5907024"/>
            <a:ext cx="274320" cy="320040"/>
          </a:xfrm>
          <a:prstGeom prst="rect">
            <a:avLst/>
          </a:prstGeom>
          <a:noFill/>
          <a:ln/>
        </p:spPr>
        <p:txBody>
          <a:bodyPr wrap="square" lIns="0" tIns="0" rIns="0" bIns="0" rtlCol="0" anchor="ctr"/>
          <a:lstStyle/>
          <a:p>
            <a:pPr marL="0" indent="0">
              <a:buNone/>
            </a:pPr>
            <a:r>
              <a:rPr lang="en-US" sz="1100" dirty="0">
                <a:solidFill>
                  <a:srgbClr val="A8863A"/>
                </a:solidFill>
                <a:latin typeface="Calibri" pitchFamily="34" charset="0"/>
                <a:ea typeface="Calibri" pitchFamily="34" charset="-122"/>
                <a:cs typeface="Calibri" pitchFamily="34" charset="-120"/>
              </a:rPr>
              <a:t>—</a:t>
            </a:r>
            <a:endParaRPr lang="en-US" sz="1100" dirty="0"/>
          </a:p>
        </p:txBody>
      </p:sp>
      <p:sp>
        <p:nvSpPr>
          <p:cNvPr id="20" name="Text 17"/>
          <p:cNvSpPr txBox="1"/>
          <p:nvPr/>
        </p:nvSpPr>
        <p:spPr>
          <a:xfrm>
            <a:off x="960120" y="5907024"/>
            <a:ext cx="10058400" cy="365760"/>
          </a:xfrm>
          <a:prstGeom prst="rect">
            <a:avLst/>
          </a:prstGeom>
          <a:noFill/>
          <a:ln/>
        </p:spPr>
        <p:txBody>
          <a:bodyPr wrap="square" lIns="0" tIns="0" rIns="0" bIns="0" rtlCol="0" anchor="ctr"/>
          <a:lstStyle/>
          <a:p>
            <a:pPr marL="0" indent="0">
              <a:buNone/>
            </a:pPr>
            <a:r>
              <a:rPr lang="en-US" sz="1100" dirty="0">
                <a:solidFill>
                  <a:srgbClr val="2B2B2B"/>
                </a:solidFill>
                <a:latin typeface="Calibri" pitchFamily="34" charset="0"/>
                <a:ea typeface="Calibri" pitchFamily="34" charset="-122"/>
                <a:cs typeface="Calibri" pitchFamily="34" charset="-120"/>
              </a:rPr>
              <a:t>No photography, banners or social icons in the signature block.</a:t>
            </a:r>
            <a:endParaRPr lang="en-US" sz="1100" dirty="0"/>
          </a:p>
        </p:txBody>
      </p:sp>
      <p:sp>
        <p:nvSpPr>
          <p:cNvPr id="21" name="Text 18"/>
          <p:cNvSpPr txBox="1"/>
          <p:nvPr/>
        </p:nvSpPr>
        <p:spPr>
          <a:xfrm>
            <a:off x="11548872" y="6446520"/>
            <a:ext cx="365760" cy="274320"/>
          </a:xfrm>
          <a:prstGeom prst="rect">
            <a:avLst/>
          </a:prstGeom>
          <a:noFill/>
          <a:ln/>
        </p:spPr>
        <p:txBody>
          <a:bodyPr wrap="square" lIns="0" tIns="0" rIns="0" bIns="0"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31B35"/>
        </a:solidFill>
        <a:effectLst/>
      </p:bgPr>
    </p:bg>
    <p:spTree>
      <p:nvGrpSpPr>
        <p:cNvPr id="1" name=""/>
        <p:cNvGrpSpPr/>
        <p:nvPr/>
      </p:nvGrpSpPr>
      <p:grpSpPr>
        <a:xfrm>
          <a:off x="0" y="0"/>
          <a:ext cx="0" cy="0"/>
          <a:chOff x="0" y="0"/>
          <a:chExt cx="0" cy="0"/>
        </a:xfrm>
      </p:grpSpPr>
      <p:pic>
        <p:nvPicPr>
          <p:cNvPr id="2" name="Image 0" descr="assets/logo_icon_transparent.png"/>
          <p:cNvPicPr>
            <a:picLocks noChangeAspect="1"/>
          </p:cNvPicPr>
          <p:nvPr/>
        </p:nvPicPr>
        <p:blipFill>
          <a:blip r:embed="rId3"/>
          <a:srcRect/>
          <a:stretch/>
        </p:blipFill>
        <p:spPr>
          <a:xfrm>
            <a:off x="5500116" y="777240"/>
            <a:ext cx="1188720" cy="1316736"/>
          </a:xfrm>
          <a:prstGeom prst="rect">
            <a:avLst/>
          </a:prstGeom>
        </p:spPr>
      </p:pic>
      <p:sp>
        <p:nvSpPr>
          <p:cNvPr id="3" name="Text 0"/>
          <p:cNvSpPr txBox="1"/>
          <p:nvPr/>
        </p:nvSpPr>
        <p:spPr>
          <a:xfrm>
            <a:off x="0" y="2331720"/>
            <a:ext cx="12188952" cy="640080"/>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Thank you</a:t>
            </a:r>
            <a:endParaRPr lang="en-US" sz="3000" dirty="0"/>
          </a:p>
        </p:txBody>
      </p:sp>
      <p:sp>
        <p:nvSpPr>
          <p:cNvPr id="4" name="Text 1"/>
          <p:cNvSpPr txBox="1"/>
          <p:nvPr/>
        </p:nvSpPr>
        <p:spPr>
          <a:xfrm>
            <a:off x="2253996" y="3017520"/>
            <a:ext cx="7680960" cy="457200"/>
          </a:xfrm>
          <a:prstGeom prst="rect">
            <a:avLst/>
          </a:prstGeom>
          <a:noFill/>
          <a:ln/>
        </p:spPr>
        <p:txBody>
          <a:bodyPr wrap="square" lIns="0" tIns="0" rIns="0" bIns="0" rtlCol="0" anchor="ctr"/>
          <a:lstStyle/>
          <a:p>
            <a:pPr marL="0" indent="0" algn="ctr">
              <a:buNone/>
            </a:pPr>
            <a:r>
              <a:rPr lang="en-US" sz="1200" dirty="0">
                <a:solidFill>
                  <a:srgbClr val="C9D2DC"/>
                </a:solidFill>
                <a:latin typeface="Calibri" pitchFamily="34" charset="0"/>
                <a:ea typeface="Calibri" pitchFamily="34" charset="-122"/>
                <a:cs typeface="Calibri" pitchFamily="34" charset="-120"/>
              </a:rPr>
              <a:t>For questions on usage, artwork files or a new stationery run, please contact the brand custodian.</a:t>
            </a:r>
            <a:endParaRPr lang="en-US" sz="1200" dirty="0"/>
          </a:p>
        </p:txBody>
      </p:sp>
      <p:pic>
        <p:nvPicPr>
          <p:cNvPr id="5" name="Image 1" descr="icons/pin_gold.png"/>
          <p:cNvPicPr>
            <a:picLocks noChangeAspect="1"/>
          </p:cNvPicPr>
          <p:nvPr/>
        </p:nvPicPr>
        <p:blipFill>
          <a:blip r:embed="rId4"/>
          <a:stretch>
            <a:fillRect/>
          </a:stretch>
        </p:blipFill>
        <p:spPr>
          <a:xfrm>
            <a:off x="3488436" y="3995928"/>
            <a:ext cx="256032" cy="256032"/>
          </a:xfrm>
          <a:prstGeom prst="rect">
            <a:avLst/>
          </a:prstGeom>
        </p:spPr>
      </p:pic>
      <p:sp>
        <p:nvSpPr>
          <p:cNvPr id="6" name="Text 2"/>
          <p:cNvSpPr txBox="1"/>
          <p:nvPr/>
        </p:nvSpPr>
        <p:spPr>
          <a:xfrm>
            <a:off x="3899916" y="3977640"/>
            <a:ext cx="5120640" cy="320040"/>
          </a:xfrm>
          <a:prstGeom prst="rect">
            <a:avLst/>
          </a:prstGeom>
          <a:noFill/>
          <a:ln/>
        </p:spPr>
        <p:txBody>
          <a:bodyPr wrap="square" lIns="0" tIns="0" rIns="0" bIns="0" rtlCol="0" anchor="ctr"/>
          <a:lstStyle/>
          <a:p>
            <a:pPr marL="0" indent="0">
              <a:buNone/>
            </a:pPr>
            <a:r>
              <a:rPr lang="en-US" sz="1200" dirty="0">
                <a:solidFill>
                  <a:srgbClr val="F2EEDD"/>
                </a:solidFill>
                <a:latin typeface="Calibri" pitchFamily="34" charset="0"/>
                <a:ea typeface="Calibri" pitchFamily="34" charset="-122"/>
                <a:cs typeface="Calibri" pitchFamily="34" charset="-120"/>
              </a:rPr>
              <a:t>Jumeirah Business Center, Office 921, Cluster W1, JLT, Dubai</a:t>
            </a:r>
            <a:endParaRPr lang="en-US" sz="1200" dirty="0"/>
          </a:p>
        </p:txBody>
      </p:sp>
      <p:pic>
        <p:nvPicPr>
          <p:cNvPr id="7" name="Image 2" descr="icons/phone_gold.png"/>
          <p:cNvPicPr>
            <a:picLocks noChangeAspect="1"/>
          </p:cNvPicPr>
          <p:nvPr/>
        </p:nvPicPr>
        <p:blipFill>
          <a:blip r:embed="rId5"/>
          <a:stretch>
            <a:fillRect/>
          </a:stretch>
        </p:blipFill>
        <p:spPr>
          <a:xfrm>
            <a:off x="3488436" y="4453128"/>
            <a:ext cx="256032" cy="256032"/>
          </a:xfrm>
          <a:prstGeom prst="rect">
            <a:avLst/>
          </a:prstGeom>
        </p:spPr>
      </p:pic>
      <p:sp>
        <p:nvSpPr>
          <p:cNvPr id="8" name="Text 3"/>
          <p:cNvSpPr txBox="1"/>
          <p:nvPr/>
        </p:nvSpPr>
        <p:spPr>
          <a:xfrm>
            <a:off x="3899916" y="4434840"/>
            <a:ext cx="5120640" cy="320040"/>
          </a:xfrm>
          <a:prstGeom prst="rect">
            <a:avLst/>
          </a:prstGeom>
          <a:noFill/>
          <a:ln/>
        </p:spPr>
        <p:txBody>
          <a:bodyPr wrap="square" lIns="0" tIns="0" rIns="0" bIns="0" rtlCol="0" anchor="ctr"/>
          <a:lstStyle/>
          <a:p>
            <a:pPr marL="0" indent="0">
              <a:buNone/>
            </a:pPr>
            <a:r>
              <a:rPr lang="en-US" sz="1200" dirty="0">
                <a:solidFill>
                  <a:srgbClr val="F2EEDD"/>
                </a:solidFill>
                <a:latin typeface="Calibri" pitchFamily="34" charset="0"/>
                <a:ea typeface="Calibri" pitchFamily="34" charset="-122"/>
                <a:cs typeface="Calibri" pitchFamily="34" charset="-120"/>
              </a:rPr>
              <a:t>+971 4 987 6543   ·   +971 4 123 4567</a:t>
            </a:r>
            <a:endParaRPr lang="en-US" sz="1200" dirty="0"/>
          </a:p>
        </p:txBody>
      </p:sp>
      <p:pic>
        <p:nvPicPr>
          <p:cNvPr id="9" name="Image 3" descr="icons/mail_gold.png"/>
          <p:cNvPicPr>
            <a:picLocks noChangeAspect="1"/>
          </p:cNvPicPr>
          <p:nvPr/>
        </p:nvPicPr>
        <p:blipFill>
          <a:blip r:embed="rId6"/>
          <a:stretch>
            <a:fillRect/>
          </a:stretch>
        </p:blipFill>
        <p:spPr>
          <a:xfrm>
            <a:off x="3488436" y="4910328"/>
            <a:ext cx="256032" cy="256032"/>
          </a:xfrm>
          <a:prstGeom prst="rect">
            <a:avLst/>
          </a:prstGeom>
        </p:spPr>
      </p:pic>
      <p:sp>
        <p:nvSpPr>
          <p:cNvPr id="10" name="Text 4"/>
          <p:cNvSpPr txBox="1"/>
          <p:nvPr/>
        </p:nvSpPr>
        <p:spPr>
          <a:xfrm>
            <a:off x="3899916" y="4892040"/>
            <a:ext cx="5120640" cy="320040"/>
          </a:xfrm>
          <a:prstGeom prst="rect">
            <a:avLst/>
          </a:prstGeom>
          <a:noFill/>
          <a:ln/>
        </p:spPr>
        <p:txBody>
          <a:bodyPr wrap="square" lIns="0" tIns="0" rIns="0" bIns="0" rtlCol="0" anchor="ctr"/>
          <a:lstStyle/>
          <a:p>
            <a:pPr marL="0" indent="0">
              <a:buNone/>
            </a:pPr>
            <a:r>
              <a:rPr lang="en-US" sz="1200" dirty="0">
                <a:solidFill>
                  <a:srgbClr val="F2EEDD"/>
                </a:solidFill>
                <a:latin typeface="Calibri" pitchFamily="34" charset="0"/>
                <a:ea typeface="Calibri" pitchFamily="34" charset="-122"/>
                <a:cs typeface="Calibri" pitchFamily="34" charset="-120"/>
              </a:rPr>
              <a:t>info@kamp.com</a:t>
            </a:r>
            <a:endParaRPr lang="en-US" sz="1200" dirty="0"/>
          </a:p>
        </p:txBody>
      </p:sp>
      <p:pic>
        <p:nvPicPr>
          <p:cNvPr id="11" name="Image 4" descr="icons/web_gold.png"/>
          <p:cNvPicPr>
            <a:picLocks noChangeAspect="1"/>
          </p:cNvPicPr>
          <p:nvPr/>
        </p:nvPicPr>
        <p:blipFill>
          <a:blip r:embed="rId7"/>
          <a:stretch>
            <a:fillRect/>
          </a:stretch>
        </p:blipFill>
        <p:spPr>
          <a:xfrm>
            <a:off x="3488436" y="5367528"/>
            <a:ext cx="256032" cy="256032"/>
          </a:xfrm>
          <a:prstGeom prst="rect">
            <a:avLst/>
          </a:prstGeom>
        </p:spPr>
      </p:pic>
      <p:sp>
        <p:nvSpPr>
          <p:cNvPr id="12" name="Text 5"/>
          <p:cNvSpPr txBox="1"/>
          <p:nvPr/>
        </p:nvSpPr>
        <p:spPr>
          <a:xfrm>
            <a:off x="3899916" y="5349240"/>
            <a:ext cx="5120640" cy="320040"/>
          </a:xfrm>
          <a:prstGeom prst="rect">
            <a:avLst/>
          </a:prstGeom>
          <a:noFill/>
          <a:ln/>
        </p:spPr>
        <p:txBody>
          <a:bodyPr wrap="square" lIns="0" tIns="0" rIns="0" bIns="0" rtlCol="0" anchor="ctr"/>
          <a:lstStyle/>
          <a:p>
            <a:pPr marL="0" indent="0">
              <a:buNone/>
            </a:pPr>
            <a:r>
              <a:rPr lang="en-US" sz="1200" dirty="0">
                <a:solidFill>
                  <a:srgbClr val="F2EEDD"/>
                </a:solidFill>
                <a:latin typeface="Calibri" pitchFamily="34" charset="0"/>
                <a:ea typeface="Calibri" pitchFamily="34" charset="-122"/>
                <a:cs typeface="Calibri" pitchFamily="34" charset="-120"/>
              </a:rPr>
              <a:t>www.kamp.com</a:t>
            </a:r>
            <a:endParaRPr lang="en-US" sz="1200" dirty="0"/>
          </a:p>
        </p:txBody>
      </p:sp>
      <p:sp>
        <p:nvSpPr>
          <p:cNvPr id="13" name="Shape 6"/>
          <p:cNvSpPr/>
          <p:nvPr/>
        </p:nvSpPr>
        <p:spPr>
          <a:xfrm>
            <a:off x="5180076" y="6172200"/>
            <a:ext cx="1828800" cy="914"/>
          </a:xfrm>
          <a:prstGeom prst="line">
            <a:avLst/>
          </a:prstGeom>
          <a:noFill/>
          <a:ln w="12700">
            <a:solidFill>
              <a:srgbClr val="C8A74C"/>
            </a:solidFill>
            <a:prstDash val="solid"/>
          </a:ln>
        </p:spPr>
      </p:sp>
      <p:sp>
        <p:nvSpPr>
          <p:cNvPr id="14" name="Text 7"/>
          <p:cNvSpPr txBox="1"/>
          <p:nvPr/>
        </p:nvSpPr>
        <p:spPr>
          <a:xfrm>
            <a:off x="0" y="6263640"/>
            <a:ext cx="12188952" cy="274320"/>
          </a:xfrm>
          <a:prstGeom prst="rect">
            <a:avLst/>
          </a:prstGeom>
          <a:noFill/>
          <a:ln/>
        </p:spPr>
        <p:txBody>
          <a:bodyPr wrap="square" lIns="0" tIns="0" rIns="0" bIns="0" rtlCol="0" anchor="ctr"/>
          <a:lstStyle/>
          <a:p>
            <a:pPr marL="0" indent="0" algn="ctr">
              <a:buNone/>
            </a:pPr>
            <a:r>
              <a:rPr lang="en-US" sz="900" kern="0" spc="200" dirty="0">
                <a:solidFill>
                  <a:srgbClr val="9AA6B2"/>
                </a:solidFill>
                <a:latin typeface="Calibri" pitchFamily="34" charset="0"/>
                <a:ea typeface="Calibri" pitchFamily="34" charset="-122"/>
                <a:cs typeface="Calibri" pitchFamily="34" charset="-120"/>
              </a:rPr>
              <a:t>KHALID AL MANSOORI PROPERTIES  ·  BRAND GUIDELINES 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873</Words>
  <Application>Microsoft Macintosh PowerPoint</Application>
  <PresentationFormat>Widescreen</PresentationFormat>
  <Paragraphs>178</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Oby Chitewe</cp:lastModifiedBy>
  <cp:revision>2</cp:revision>
  <dcterms:created xsi:type="dcterms:W3CDTF">2026-08-30T14:44:00Z</dcterms:created>
  <dcterms:modified xsi:type="dcterms:W3CDTF">2026-08-30T14:53:30Z</dcterms:modified>
</cp:coreProperties>
</file>